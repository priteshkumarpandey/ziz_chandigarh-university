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Calibri"/>
              </a:rPr>
              <a:t>Forecast RMSE, mean across 5 folds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+30 min</c:v>
                </c:pt>
                <c:pt idx="1">
                  <c:v>+60 min</c:v>
                </c:pt>
                <c:pt idx="2">
                  <c:v>+120 min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20.059999999999999</c:v>
                </c:pt>
                <c:pt idx="1">
                  <c:v>29.64</c:v>
                </c:pt>
                <c:pt idx="2">
                  <c:v>40.14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C-40BA-A31C-C037C76702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+30 min</c:v>
                </c:pt>
                <c:pt idx="1">
                  <c:v>+60 min</c:v>
                </c:pt>
                <c:pt idx="2">
                  <c:v>+120 min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17.62</c:v>
                </c:pt>
                <c:pt idx="1">
                  <c:v>26.86</c:v>
                </c:pt>
                <c:pt idx="2">
                  <c:v>35.200000000000003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9C-40BA-A31C-C037C76702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7DD3F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+30 min</c:v>
                </c:pt>
                <c:pt idx="1">
                  <c:v>+60 min</c:v>
                </c:pt>
                <c:pt idx="2">
                  <c:v>+120 min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18.170000000000002</c:v>
                </c:pt>
                <c:pt idx="1">
                  <c:v>27.62</c:v>
                </c:pt>
                <c:pt idx="2">
                  <c:v>36.200000000000003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9C-40BA-A31C-C037C76702B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GRU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+30 min</c:v>
                </c:pt>
                <c:pt idx="1">
                  <c:v>+60 min</c:v>
                </c:pt>
                <c:pt idx="2">
                  <c:v>+120 min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18.86</c:v>
                </c:pt>
                <c:pt idx="1">
                  <c:v>26.43</c:v>
                </c:pt>
                <c:pt idx="2">
                  <c:v>32.86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9C-40BA-A31C-C037C76702B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TFT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+30 min</c:v>
                </c:pt>
                <c:pt idx="1">
                  <c:v>+60 min</c:v>
                </c:pt>
                <c:pt idx="2">
                  <c:v>+120 min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22.52</c:v>
                </c:pt>
                <c:pt idx="1">
                  <c:v>28.32</c:v>
                </c:pt>
                <c:pt idx="2">
                  <c:v>34.64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9C-40BA-A31C-C037C76702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ID" sz="1200" b="0" i="0" u="none" strike="noStrike">
                    <a:solidFill>
                      <a:srgbClr val="000000"/>
                    </a:solidFill>
                    <a:latin typeface="Calibri"/>
                  </a:rPr>
                  <a:t>Forecast horizon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ID" sz="1200" b="0" i="0" u="none" strike="noStrike">
                    <a:solidFill>
                      <a:srgbClr val="000000"/>
                    </a:solidFill>
                    <a:latin typeface="Calibri"/>
                  </a:rPr>
                  <a:t>RMSE (mg/dL)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7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lang="en-ID" sz="1400" b="0" i="0" u="none" strike="noStrike">
                <a:solidFill>
                  <a:srgbClr val="0F172A"/>
                </a:solidFill>
                <a:latin typeface="Calibri"/>
              </a:rPr>
              <a:t>RMSE reduction at +60 min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reduction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Per-patient bias correction</c:v>
                </c:pt>
                <c:pt idx="1">
                  <c:v>LoRA-style adapters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</c:v>
                </c:pt>
                <c:pt idx="1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6C-41BD-A628-426D7CDA65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ID" sz="1200" b="0" i="0" u="none" strike="noStrike">
                    <a:solidFill>
                      <a:srgbClr val="000000"/>
                    </a:solidFill>
                    <a:latin typeface="Calibri"/>
                  </a:rPr>
                  <a:t>Method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ID" sz="1200" b="0" i="0" u="none" strike="noStrike">
                    <a:solidFill>
                      <a:srgbClr val="000000"/>
                    </a:solidFill>
                    <a:latin typeface="Calibri"/>
                  </a:rPr>
                  <a:t>RMSE reduction (mg/dL)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Calibri"/>
              </a:rPr>
              <a:t>Rise after type 2 diabetes meals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rise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Predicted by model</c:v>
                </c:pt>
                <c:pt idx="1">
                  <c:v>Observed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32.67</c:v>
                </c:pt>
                <c:pt idx="1">
                  <c:v>66.819999999999993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A7-486A-87E3-A22EC36576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ID" sz="1200" b="0" i="0" u="none" strike="noStrike">
                    <a:solidFill>
                      <a:srgbClr val="000000"/>
                    </a:solidFill>
                    <a:latin typeface="Calibri"/>
                  </a:rPr>
                  <a:t>Source of the 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1200" b="0" i="0" u="none" strike="noStrike">
                    <a:solidFill>
                      <a:srgbClr val="000000"/>
                    </a:solidFill>
                    <a:latin typeface="Calibri"/>
                  </a:rPr>
                  <a:t>Mean glucose rise (mg/dL)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89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by ZIZ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ULT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by ZIZ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640080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a medical device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9.png"/><Relationship Id="rId18" Type="http://schemas.openxmlformats.org/officeDocument/2006/relationships/image" Target="../media/image24.png"/><Relationship Id="rId3" Type="http://schemas.openxmlformats.org/officeDocument/2006/relationships/image" Target="../media/image13.png"/><Relationship Id="rId21" Type="http://schemas.openxmlformats.org/officeDocument/2006/relationships/image" Target="../media/image27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23" Type="http://schemas.openxmlformats.org/officeDocument/2006/relationships/image" Target="../media/image29.png"/><Relationship Id="rId10" Type="http://schemas.openxmlformats.org/officeDocument/2006/relationships/image" Target="../media/image19.png"/><Relationship Id="rId19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1.png"/><Relationship Id="rId22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10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teshkumarpandey/ZIZ_CHANDIGARH-UNIVERSIT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India-aware digital twin for proactive type 2 diabetes management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ZIZ, Chandigarh University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Digital Twin Challenge 2026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512064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open or anonymized data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512064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 txBox="1"/>
          <p:nvPr/>
        </p:nvSpPr>
        <p:spPr>
          <a:xfrm>
            <a:off x="448056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a medical device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1737360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468880"/>
            <a:ext cx="1463040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is mostly reactive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every few months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meet the doctor only every few months.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34256" y="13716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16459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08576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noticed afterwards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608576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rise in glucose is usually seen after it happened.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19872" y="13716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16459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94192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view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8394192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visits the doctor sees nothing continuous.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4389120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E0F2FE"/>
          </a:solidFill>
          <a:ln w="9525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1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give the doctor a continuous view between visits, and warn about a likely excursion before it happens, not after.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digital twin 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copy of one patient, kept up to date with live data, that can monitor, predict and answer what-if questions.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prediction model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personalized per patient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537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4553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continuously updated</a:t>
            </a:r>
            <a:endParaRPr lang="en-US" sz="2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66944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5266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what-if testing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245352" y="2880360"/>
            <a:ext cx="539496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9"/>
          <p:cNvSpPr txBox="1"/>
          <p:nvPr/>
        </p:nvSpPr>
        <p:spPr>
          <a:xfrm>
            <a:off x="6519672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digital twin</a:t>
            </a:r>
            <a:endParaRPr lang="en-US" sz="2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38404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59752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per patient</a:t>
            </a:r>
            <a:endParaRPr lang="en-US" sz="2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553712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159752" y="4553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updated</a:t>
            </a:r>
            <a:endParaRPr lang="en-US" sz="2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5266944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159752" y="5266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what-if testing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51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replay of the CGM stream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74136" y="137160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6002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02736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3602736" y="2651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at +30, +60 and +120 min with a q10 to q90 band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37160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6002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28232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428232" y="2651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events that pass a safety gate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025128" y="137160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160020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53728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9253728" y="2651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behind each forecast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657600"/>
            <a:ext cx="35387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88620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7240" y="45262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49377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per-patient adapters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320540" y="3657600"/>
            <a:ext cx="35387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9140" y="388620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549140" y="45262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4549140" y="49377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meal or activity and re-run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8092440" y="3657600"/>
            <a:ext cx="35387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86200"/>
            <a:ext cx="502920" cy="5029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321040" y="45262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2000" dirty="0"/>
          </a:p>
        </p:txBody>
      </p:sp>
      <p:sp>
        <p:nvSpPr>
          <p:cNvPr id="30" name="Text 21"/>
          <p:cNvSpPr txBox="1"/>
          <p:nvPr/>
        </p:nvSpPr>
        <p:spPr>
          <a:xfrm>
            <a:off x="8321040" y="49377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 for the clinician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roles and licenses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2783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and 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CGMacros (PhysioNet)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training and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participants (14 type 2 diabetes, 16 prediabetes, 15 healthy); 134,292 prediction windows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BY-NC-SA 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HUPA-UCM (Mendeley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pretraining only, never used for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1, 25 patients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AI-READI (ADVANCE Center)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patient table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10,518 synthetic static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not published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meal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meals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dishes; team estimates from IFCT 2017 raw ingredient values plus recipe assumptions; glycemic index values unverified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Team-made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data redistributed</a:t>
            </a:r>
            <a:endParaRPr lang="en-US" sz="1200" dirty="0"/>
          </a:p>
        </p:txBody>
      </p:sp>
      <p:sp>
        <p:nvSpPr>
          <p:cNvPr id="3" name="Shape 3"/>
          <p:cNvSpPr/>
          <p:nvPr/>
        </p:nvSpPr>
        <p:spPr>
          <a:xfrm>
            <a:off x="4206240" y="534924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 txBox="1"/>
          <p:nvPr/>
        </p:nvSpPr>
        <p:spPr>
          <a:xfrm>
            <a:off x="4206240" y="5349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Record-to-wearable link is synthetic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320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955280" y="621792"/>
            <a:ext cx="457200" cy="0"/>
          </a:xfrm>
          <a:prstGeom prst="line">
            <a:avLst/>
          </a:prstGeom>
          <a:noFill/>
          <a:ln w="28575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8503920" y="502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12680" y="621792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dash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 txBox="1"/>
          <p:nvPr/>
        </p:nvSpPr>
        <p:spPr>
          <a:xfrm>
            <a:off x="10561320" y="5029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325880"/>
            <a:ext cx="18288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 txBox="1"/>
          <p:nvPr/>
        </p:nvSpPr>
        <p:spPr>
          <a:xfrm>
            <a:off x="493776" y="141732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Sources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874520"/>
            <a:ext cx="1645920" cy="1005840"/>
          </a:xfrm>
          <a:prstGeom prst="roundRect">
            <a:avLst>
              <a:gd name="adj" fmla="val 4545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1911096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static features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" y="3081528"/>
            <a:ext cx="1645920" cy="1005840"/>
          </a:xfrm>
          <a:prstGeom prst="roundRect">
            <a:avLst>
              <a:gd name="adj" fmla="val 4545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472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14400" y="3118104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and wearable stream via Kafka replay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" y="4288536"/>
            <a:ext cx="1645920" cy="1005840"/>
          </a:xfrm>
          <a:prstGeom prst="roundRect">
            <a:avLst>
              <a:gd name="adj" fmla="val 4545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542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" y="4325112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meal library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487168" y="1325880"/>
            <a:ext cx="1737360" cy="4069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4"/>
          <p:cNvSpPr txBox="1"/>
          <p:nvPr/>
        </p:nvSpPr>
        <p:spPr>
          <a:xfrm>
            <a:off x="2596896" y="14173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Data layer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578608" y="187452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2103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017520" y="1911096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578608" y="277063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299923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017520" y="2807208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grid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2578608" y="3666744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0" y="389534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017520" y="3703320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(72 steps)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2578608" y="4562856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0" y="4791456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017520" y="45994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864608" y="1325880"/>
            <a:ext cx="2560320" cy="4069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24"/>
          <p:cNvSpPr txBox="1"/>
          <p:nvPr/>
        </p:nvSpPr>
        <p:spPr>
          <a:xfrm>
            <a:off x="4974336" y="141732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Twin core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4956048" y="187452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198882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394960" y="1911096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fusion model with LightGBM fallback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956048" y="2459736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574036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394960" y="2496312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calibration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4956048" y="304495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159252"/>
            <a:ext cx="274320" cy="27432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394960" y="3081528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adapters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4956048" y="3630168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744468"/>
            <a:ext cx="274320" cy="27432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5394960" y="3666744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100" dirty="0"/>
          </a:p>
        </p:txBody>
      </p:sp>
      <p:sp>
        <p:nvSpPr>
          <p:cNvPr id="46" name="Shape 33"/>
          <p:cNvSpPr/>
          <p:nvPr/>
        </p:nvSpPr>
        <p:spPr>
          <a:xfrm>
            <a:off x="4956048" y="4215384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4329684"/>
            <a:ext cx="274320" cy="27432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5394960" y="4251960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100" dirty="0"/>
          </a:p>
        </p:txBody>
      </p:sp>
      <p:sp>
        <p:nvSpPr>
          <p:cNvPr id="49" name="Shape 35"/>
          <p:cNvSpPr/>
          <p:nvPr/>
        </p:nvSpPr>
        <p:spPr>
          <a:xfrm>
            <a:off x="4956048" y="48006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9200" y="4914900"/>
            <a:ext cx="274320" cy="27432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5394960" y="4837176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state in TimescaleDB</a:t>
            </a:r>
            <a:endParaRPr lang="en-US" sz="1100" dirty="0"/>
          </a:p>
        </p:txBody>
      </p:sp>
      <p:sp>
        <p:nvSpPr>
          <p:cNvPr id="52" name="Shape 37"/>
          <p:cNvSpPr/>
          <p:nvPr/>
        </p:nvSpPr>
        <p:spPr>
          <a:xfrm>
            <a:off x="7699248" y="1325880"/>
            <a:ext cx="2103120" cy="40690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Text 38"/>
          <p:cNvSpPr txBox="1"/>
          <p:nvPr/>
        </p:nvSpPr>
        <p:spPr>
          <a:xfrm>
            <a:off x="7808976" y="1417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Serving</a:t>
            </a:r>
            <a:endParaRPr lang="en-US" sz="1400" dirty="0"/>
          </a:p>
        </p:txBody>
      </p:sp>
      <p:sp>
        <p:nvSpPr>
          <p:cNvPr id="54" name="Shape 39"/>
          <p:cNvSpPr/>
          <p:nvPr/>
        </p:nvSpPr>
        <p:spPr>
          <a:xfrm>
            <a:off x="7790688" y="187452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63840" y="2103120"/>
            <a:ext cx="274320" cy="274320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8229600" y="1911096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and WebSocket</a:t>
            </a:r>
            <a:endParaRPr lang="en-US" sz="1100" dirty="0"/>
          </a:p>
        </p:txBody>
      </p:sp>
      <p:sp>
        <p:nvSpPr>
          <p:cNvPr id="57" name="Shape 41"/>
          <p:cNvSpPr/>
          <p:nvPr/>
        </p:nvSpPr>
        <p:spPr>
          <a:xfrm>
            <a:off x="7790688" y="2770632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3840" y="2999232"/>
            <a:ext cx="274320" cy="274320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229600" y="28072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gate</a:t>
            </a:r>
            <a:endParaRPr lang="en-US" sz="1100" dirty="0"/>
          </a:p>
        </p:txBody>
      </p:sp>
      <p:sp>
        <p:nvSpPr>
          <p:cNvPr id="60" name="Shape 43"/>
          <p:cNvSpPr/>
          <p:nvPr/>
        </p:nvSpPr>
        <p:spPr>
          <a:xfrm>
            <a:off x="7790688" y="3666744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63840" y="3895344"/>
            <a:ext cx="274320" cy="274320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8229600" y="370332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low-glucose checks</a:t>
            </a:r>
            <a:endParaRPr lang="en-US" sz="1100" dirty="0"/>
          </a:p>
        </p:txBody>
      </p:sp>
      <p:sp>
        <p:nvSpPr>
          <p:cNvPr id="63" name="Shape 45"/>
          <p:cNvSpPr/>
          <p:nvPr/>
        </p:nvSpPr>
        <p:spPr>
          <a:xfrm>
            <a:off x="7790688" y="4562856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63840" y="4791456"/>
            <a:ext cx="274320" cy="274320"/>
          </a:xfrm>
          <a:prstGeom prst="rect">
            <a:avLst/>
          </a:prstGeom>
        </p:spPr>
      </p:pic>
      <p:sp>
        <p:nvSpPr>
          <p:cNvPr id="65" name="Text 46"/>
          <p:cNvSpPr txBox="1"/>
          <p:nvPr/>
        </p:nvSpPr>
        <p:spPr>
          <a:xfrm>
            <a:off x="8229600" y="4599432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summary</a:t>
            </a:r>
            <a:endParaRPr lang="en-US" sz="1100" dirty="0"/>
          </a:p>
        </p:txBody>
      </p:sp>
      <p:sp>
        <p:nvSpPr>
          <p:cNvPr id="66" name="Shape 47"/>
          <p:cNvSpPr/>
          <p:nvPr/>
        </p:nvSpPr>
        <p:spPr>
          <a:xfrm>
            <a:off x="10076688" y="1325880"/>
            <a:ext cx="1737360" cy="4069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7" name="Text 48"/>
          <p:cNvSpPr txBox="1"/>
          <p:nvPr/>
        </p:nvSpPr>
        <p:spPr>
          <a:xfrm>
            <a:off x="10186416" y="14173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Doctor dashboard</a:t>
            </a:r>
            <a:endParaRPr lang="en-US" sz="1400" dirty="0"/>
          </a:p>
        </p:txBody>
      </p:sp>
      <p:sp>
        <p:nvSpPr>
          <p:cNvPr id="68" name="Shape 49"/>
          <p:cNvSpPr/>
          <p:nvPr/>
        </p:nvSpPr>
        <p:spPr>
          <a:xfrm>
            <a:off x="10168128" y="187452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6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41280" y="2011680"/>
            <a:ext cx="274320" cy="274320"/>
          </a:xfrm>
          <a:prstGeom prst="rect">
            <a:avLst/>
          </a:prstGeom>
        </p:spPr>
      </p:pic>
      <p:sp>
        <p:nvSpPr>
          <p:cNvPr id="70" name="Text 50"/>
          <p:cNvSpPr txBox="1"/>
          <p:nvPr/>
        </p:nvSpPr>
        <p:spPr>
          <a:xfrm>
            <a:off x="10607040" y="1911096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71" name="Shape 51"/>
          <p:cNvSpPr/>
          <p:nvPr/>
        </p:nvSpPr>
        <p:spPr>
          <a:xfrm>
            <a:off x="10168128" y="2596896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734056"/>
            <a:ext cx="274320" cy="274320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10607040" y="263347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100" dirty="0"/>
          </a:p>
        </p:txBody>
      </p:sp>
      <p:sp>
        <p:nvSpPr>
          <p:cNvPr id="74" name="Shape 53"/>
          <p:cNvSpPr/>
          <p:nvPr/>
        </p:nvSpPr>
        <p:spPr>
          <a:xfrm>
            <a:off x="10168128" y="3319272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5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3456432"/>
            <a:ext cx="274320" cy="274320"/>
          </a:xfrm>
          <a:prstGeom prst="rect">
            <a:avLst/>
          </a:prstGeom>
        </p:spPr>
      </p:pic>
      <p:sp>
        <p:nvSpPr>
          <p:cNvPr id="76" name="Text 54"/>
          <p:cNvSpPr txBox="1"/>
          <p:nvPr/>
        </p:nvSpPr>
        <p:spPr>
          <a:xfrm>
            <a:off x="10607040" y="33558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</a:t>
            </a:r>
            <a:endParaRPr lang="en-US" sz="1100" dirty="0"/>
          </a:p>
        </p:txBody>
      </p:sp>
      <p:sp>
        <p:nvSpPr>
          <p:cNvPr id="77" name="Shape 55"/>
          <p:cNvSpPr/>
          <p:nvPr/>
        </p:nvSpPr>
        <p:spPr>
          <a:xfrm>
            <a:off x="10168128" y="4041648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8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178808"/>
            <a:ext cx="274320" cy="274320"/>
          </a:xfrm>
          <a:prstGeom prst="rect">
            <a:avLst/>
          </a:prstGeom>
        </p:spPr>
      </p:pic>
      <p:sp>
        <p:nvSpPr>
          <p:cNvPr id="79" name="Text 56"/>
          <p:cNvSpPr txBox="1"/>
          <p:nvPr/>
        </p:nvSpPr>
        <p:spPr>
          <a:xfrm>
            <a:off x="10607040" y="407822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0" name="Shape 57"/>
          <p:cNvSpPr/>
          <p:nvPr/>
        </p:nvSpPr>
        <p:spPr>
          <a:xfrm>
            <a:off x="10168128" y="4764024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81" name="Image 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4901184"/>
            <a:ext cx="274320" cy="274320"/>
          </a:xfrm>
          <a:prstGeom prst="rect">
            <a:avLst/>
          </a:prstGeom>
        </p:spPr>
      </p:pic>
      <p:sp>
        <p:nvSpPr>
          <p:cNvPr id="82" name="Text 58"/>
          <p:cNvSpPr txBox="1"/>
          <p:nvPr/>
        </p:nvSpPr>
        <p:spPr>
          <a:xfrm>
            <a:off x="10607040" y="48006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83" name="Shape 59"/>
          <p:cNvSpPr/>
          <p:nvPr/>
        </p:nvSpPr>
        <p:spPr>
          <a:xfrm>
            <a:off x="2212848" y="2377440"/>
            <a:ext cx="27432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84" name="Shape 60"/>
          <p:cNvSpPr/>
          <p:nvPr/>
        </p:nvSpPr>
        <p:spPr>
          <a:xfrm>
            <a:off x="2212848" y="3584448"/>
            <a:ext cx="27432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85" name="Shape 61"/>
          <p:cNvSpPr/>
          <p:nvPr/>
        </p:nvSpPr>
        <p:spPr>
          <a:xfrm>
            <a:off x="2212848" y="4791456"/>
            <a:ext cx="27432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86" name="Shape 62"/>
          <p:cNvSpPr/>
          <p:nvPr/>
        </p:nvSpPr>
        <p:spPr>
          <a:xfrm>
            <a:off x="4224528" y="2084832"/>
            <a:ext cx="731520" cy="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87" name="Text 63"/>
          <p:cNvSpPr txBox="1"/>
          <p:nvPr/>
        </p:nvSpPr>
        <p:spPr>
          <a:xfrm>
            <a:off x="4297680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000" dirty="0"/>
          </a:p>
        </p:txBody>
      </p:sp>
      <p:sp>
        <p:nvSpPr>
          <p:cNvPr id="88" name="Shape 64"/>
          <p:cNvSpPr/>
          <p:nvPr/>
        </p:nvSpPr>
        <p:spPr>
          <a:xfrm>
            <a:off x="4224528" y="2286000"/>
            <a:ext cx="731520" cy="0"/>
          </a:xfrm>
          <a:prstGeom prst="line">
            <a:avLst/>
          </a:prstGeom>
          <a:noFill/>
          <a:ln w="381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89" name="Text 65"/>
          <p:cNvSpPr txBox="1"/>
          <p:nvPr/>
        </p:nvSpPr>
        <p:spPr>
          <a:xfrm>
            <a:off x="4297680" y="2331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</a:t>
            </a:r>
            <a:endParaRPr lang="en-US" sz="1000" dirty="0"/>
          </a:p>
        </p:txBody>
      </p:sp>
      <p:sp>
        <p:nvSpPr>
          <p:cNvPr id="90" name="Shape 66"/>
          <p:cNvSpPr/>
          <p:nvPr/>
        </p:nvSpPr>
        <p:spPr>
          <a:xfrm>
            <a:off x="4224528" y="3383280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dash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1" name="Text 67"/>
          <p:cNvSpPr txBox="1"/>
          <p:nvPr/>
        </p:nvSpPr>
        <p:spPr>
          <a:xfrm>
            <a:off x="4242816" y="29992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</a:t>
            </a:r>
            <a:endParaRPr lang="en-US" sz="1000" dirty="0"/>
          </a:p>
        </p:txBody>
      </p:sp>
      <p:sp>
        <p:nvSpPr>
          <p:cNvPr id="92" name="Shape 68"/>
          <p:cNvSpPr/>
          <p:nvPr/>
        </p:nvSpPr>
        <p:spPr>
          <a:xfrm>
            <a:off x="4224528" y="4462272"/>
            <a:ext cx="73152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3" name="Text 69"/>
          <p:cNvSpPr txBox="1"/>
          <p:nvPr/>
        </p:nvSpPr>
        <p:spPr>
          <a:xfrm>
            <a:off x="4297680" y="4242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000" dirty="0"/>
          </a:p>
        </p:txBody>
      </p:sp>
      <p:sp>
        <p:nvSpPr>
          <p:cNvPr id="94" name="Shape 70"/>
          <p:cNvSpPr/>
          <p:nvPr/>
        </p:nvSpPr>
        <p:spPr>
          <a:xfrm>
            <a:off x="7424928" y="2194560"/>
            <a:ext cx="36576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5" name="Shape 71"/>
          <p:cNvSpPr/>
          <p:nvPr/>
        </p:nvSpPr>
        <p:spPr>
          <a:xfrm>
            <a:off x="7424928" y="4462272"/>
            <a:ext cx="36576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6" name="Shape 72"/>
          <p:cNvSpPr/>
          <p:nvPr/>
        </p:nvSpPr>
        <p:spPr>
          <a:xfrm>
            <a:off x="9802368" y="3383280"/>
            <a:ext cx="36576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7" name="Shape 73"/>
          <p:cNvSpPr/>
          <p:nvPr/>
        </p:nvSpPr>
        <p:spPr>
          <a:xfrm>
            <a:off x="384048" y="5577840"/>
            <a:ext cx="114300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8" name="Text 74"/>
          <p:cNvSpPr txBox="1"/>
          <p:nvPr/>
        </p:nvSpPr>
        <p:spPr>
          <a:xfrm>
            <a:off x="548640" y="5577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99" name="Shape 75"/>
          <p:cNvSpPr/>
          <p:nvPr/>
        </p:nvSpPr>
        <p:spPr>
          <a:xfrm>
            <a:off x="1828800" y="566928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0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20240" y="5724144"/>
            <a:ext cx="256032" cy="256032"/>
          </a:xfrm>
          <a:prstGeom prst="rect">
            <a:avLst/>
          </a:prstGeom>
        </p:spPr>
      </p:pic>
      <p:sp>
        <p:nvSpPr>
          <p:cNvPr id="101" name="Text 76"/>
          <p:cNvSpPr txBox="1"/>
          <p:nvPr/>
        </p:nvSpPr>
        <p:spPr>
          <a:xfrm>
            <a:off x="2286000" y="5669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102" name="Shape 77"/>
          <p:cNvSpPr/>
          <p:nvPr/>
        </p:nvSpPr>
        <p:spPr>
          <a:xfrm>
            <a:off x="4343400" y="566928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3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5724144"/>
            <a:ext cx="256032" cy="256032"/>
          </a:xfrm>
          <a:prstGeom prst="rect">
            <a:avLst/>
          </a:prstGeom>
        </p:spPr>
      </p:pic>
      <p:sp>
        <p:nvSpPr>
          <p:cNvPr id="104" name="Text 78"/>
          <p:cNvSpPr txBox="1"/>
          <p:nvPr/>
        </p:nvSpPr>
        <p:spPr>
          <a:xfrm>
            <a:off x="4800600" y="5669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</a:t>
            </a:r>
            <a:endParaRPr lang="en-US" sz="1100" dirty="0"/>
          </a:p>
        </p:txBody>
      </p:sp>
      <p:sp>
        <p:nvSpPr>
          <p:cNvPr id="105" name="Shape 79"/>
          <p:cNvSpPr/>
          <p:nvPr/>
        </p:nvSpPr>
        <p:spPr>
          <a:xfrm>
            <a:off x="6858000" y="566928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49440" y="5724144"/>
            <a:ext cx="256032" cy="256032"/>
          </a:xfrm>
          <a:prstGeom prst="rect">
            <a:avLst/>
          </a:prstGeom>
        </p:spPr>
      </p:pic>
      <p:sp>
        <p:nvSpPr>
          <p:cNvPr id="107" name="Text 80"/>
          <p:cNvSpPr txBox="1"/>
          <p:nvPr/>
        </p:nvSpPr>
        <p:spPr>
          <a:xfrm>
            <a:off x="7315200" y="5669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108" name="Shape 81"/>
          <p:cNvSpPr/>
          <p:nvPr/>
        </p:nvSpPr>
        <p:spPr>
          <a:xfrm>
            <a:off x="9372600" y="566928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9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64040" y="5724144"/>
            <a:ext cx="256032" cy="256032"/>
          </a:xfrm>
          <a:prstGeom prst="rect">
            <a:avLst/>
          </a:prstGeom>
        </p:spPr>
      </p:pic>
      <p:sp>
        <p:nvSpPr>
          <p:cNvPr id="110" name="Text 82"/>
          <p:cNvSpPr txBox="1"/>
          <p:nvPr/>
        </p:nvSpPr>
        <p:spPr>
          <a:xfrm>
            <a:off x="9829800" y="5669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fuses two streams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features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 data, turned into a static embedding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sequence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grid, 6-hour lookback (72 steps). Known-future inputs: hour of day, time since last meal, recent carbs.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1965960"/>
            <a:ext cx="822960" cy="73152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 flipV="1">
            <a:off x="3931920" y="2926080"/>
            <a:ext cx="822960" cy="685800"/>
          </a:xfrm>
          <a:prstGeom prst="line">
            <a:avLst/>
          </a:prstGeom>
          <a:noFill/>
          <a:ln w="38100">
            <a:solidFill>
              <a:srgbClr val="0284C7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E0F2FE"/>
          </a:solidFill>
          <a:ln w="9525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 txBox="1"/>
          <p:nvPr/>
        </p:nvSpPr>
        <p:spPr>
          <a:xfrm>
            <a:off x="475488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fusion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 plus CGM sequence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2816352"/>
            <a:ext cx="822960" cy="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321040" y="1371600"/>
            <a:ext cx="3319272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 txBox="1"/>
          <p:nvPr/>
        </p:nvSpPr>
        <p:spPr>
          <a:xfrm>
            <a:off x="85039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19202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at +30, +60 and +120 min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plus q10 to q90 band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calibration, 80% target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 txBox="1"/>
          <p:nvPr/>
        </p:nvSpPr>
        <p:spPr>
          <a:xfrm>
            <a:off x="822960" y="47548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754880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observed values fell inside the GRU interval at +30 min (80% target). Static and time-varying features are kept separate.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design: no patient leaks across folds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leave-patients-out cross-validation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374136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6002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02736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diabetes status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199632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60020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28232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Scalers fit on training patients only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9025128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160020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53728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in more than one role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3611880"/>
            <a:ext cx="1109167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0"/>
          <p:cNvSpPr txBox="1"/>
          <p:nvPr/>
        </p:nvSpPr>
        <p:spPr>
          <a:xfrm>
            <a:off x="8229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we predict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822960" y="4251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2"/>
          <p:cNvSpPr txBox="1"/>
          <p:nvPr/>
        </p:nvSpPr>
        <p:spPr>
          <a:xfrm>
            <a:off x="822960" y="4251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Hyperglycemia: above 180 mg/dL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502152" y="4251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4"/>
          <p:cNvSpPr txBox="1"/>
          <p:nvPr/>
        </p:nvSpPr>
        <p:spPr>
          <a:xfrm>
            <a:off x="3502152" y="4251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Severe: above 250 mg/dL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81344" y="4251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16"/>
          <p:cNvSpPr txBox="1"/>
          <p:nvPr/>
        </p:nvSpPr>
        <p:spPr>
          <a:xfrm>
            <a:off x="6181344" y="4251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Hypoglycemia: below 70 mg/dL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860536" y="4251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18"/>
          <p:cNvSpPr txBox="1"/>
          <p:nvPr/>
        </p:nvSpPr>
        <p:spPr>
          <a:xfrm>
            <a:off x="8860536" y="4251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Spike: rise of 40 mg/dL or more within 60 minutes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134,292 prediction windows from 45 participants were used for all training and evaluation.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 by horizon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772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63040"/>
          <a:ext cx="75895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371600"/>
            <a:ext cx="3090672" cy="2148840"/>
          </a:xfrm>
          <a:prstGeom prst="roundRect">
            <a:avLst>
              <a:gd name="adj" fmla="val 2553"/>
            </a:avLst>
          </a:prstGeom>
          <a:solidFill>
            <a:srgbClr val="E0F2FE"/>
          </a:solidFill>
          <a:ln w="9525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 txBox="1"/>
          <p:nvPr/>
        </p:nvSpPr>
        <p:spPr>
          <a:xfrm>
            <a:off x="873252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32.86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mg/dL, GRU at +120 min, against 40.14 for persistence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74904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improvement over persistence. At +30 and +60 min the GRU, LightGBM and XGBoost are within one standard deviation of each other.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comparison with persistence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reduction in per-patient RMSE over 45 patients, with 95% bootstrap interval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reduction (mg/dL)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interval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 improved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[1.92, 2.83]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of 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[1.35, 2.54]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of 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[0.83, 1.95]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of 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[2.09, 4.26]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of 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[1.85, 3.78]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of 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[1.16, 3.47]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of 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intervals exclude zero, but the reductions are modest, between 1.41 and 3.21 mg/dL, and not every patient improves.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 when a safety gate is passed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gate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recall at least 40%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least 30%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Reliable: at least 10 events per fold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1.0 false alerts per patient-day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5742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612648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 at +30 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± 10%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± 4%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017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± 0.2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per patient-day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3017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1206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 txBox="1"/>
          <p:nvPr/>
        </p:nvSpPr>
        <p:spPr>
          <a:xfrm>
            <a:off x="77724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events pass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00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 +30 min. Severe hyperglycemia +30 and +60 min. Spike +30 and +60 min. All other events are shown only as a risk estimate, never an alert.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97880" y="4343400"/>
            <a:ext cx="5742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 txBox="1"/>
          <p:nvPr/>
        </p:nvSpPr>
        <p:spPr>
          <a:xfrm>
            <a:off x="612648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glucose: rule-based, not predicted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8006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hypoglycemia did not pass (too few events). Checks on the observed reading: below 70, below 54, rapid fall.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and personalization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for the GRU, SHAP for LightGBM.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1206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of 45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improved with per-patient adapters. MARD 12.82% to 11.90%. RMSE 24.14 to 23.20 mg/dL at +60 min.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371600"/>
            <a:ext cx="5742432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graphicFrame>
        <p:nvGraphicFramePr>
          <p:cNvPr id="10" name="Chart 0"/>
          <p:cNvGraphicFramePr/>
          <p:nvPr/>
        </p:nvGraphicFramePr>
        <p:xfrm>
          <a:off x="5989320" y="1463040"/>
          <a:ext cx="55778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 txBox="1"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effect. A simple per-patient bias correction gives almost the same RMSE gain (0.91 vs 0.94 mg/dL). Adapters are promoted only if held-out error improves.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model with a changed meal or activity. Default is the raw model output.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508760"/>
          <a:ext cx="4663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1417320"/>
            <a:ext cx="6016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 txBox="1"/>
          <p:nvPr/>
        </p:nvSpPr>
        <p:spPr>
          <a:xfrm>
            <a:off x="5852160" y="1417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1417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meals show a positive rise (direction is right)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23560" y="2560320"/>
            <a:ext cx="6016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 txBox="1"/>
          <p:nvPr/>
        </p:nvSpPr>
        <p:spPr>
          <a:xfrm>
            <a:off x="5852160" y="2560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0.3994 ± 0.1102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2560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cross-fold Pearson 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23560" y="3703320"/>
            <a:ext cx="6016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 txBox="1"/>
          <p:nvPr/>
        </p:nvSpPr>
        <p:spPr>
          <a:xfrm>
            <a:off x="5852160" y="3703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 to 100%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in carbohydrate: raw model, then physiological projection (100% by construction)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 txBox="1"/>
          <p:nvPr/>
        </p:nvSpPr>
        <p:spPr>
          <a:xfrm>
            <a:off x="777240" y="50292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rises are underestimated by about half. The walking effect is an assumption (0.38 mg/dL per net MET-minute, capped at 50 mg/dL), not validated.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85216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 txBox="1"/>
          <p:nvPr/>
        </p:nvSpPr>
        <p:spPr>
          <a:xfrm>
            <a:off x="548640" y="5852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331720" y="58521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 txBox="1"/>
          <p:nvPr/>
        </p:nvSpPr>
        <p:spPr>
          <a:xfrm>
            <a:off x="2331720" y="5852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assumption-based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80560" y="58521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19"/>
          <p:cNvSpPr txBox="1"/>
          <p:nvPr/>
        </p:nvSpPr>
        <p:spPr>
          <a:xfrm>
            <a:off x="448056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nutrient values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2800" dirty="0"/>
          </a:p>
        </p:txBody>
      </p:sp>
      <p:pic>
        <p:nvPicPr>
          <p:cNvPr id="3" name="Image 0" descr="crops/twin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40680" cy="34015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5440680" cy="3401568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1" descr="crops/what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371600"/>
            <a:ext cx="5440680" cy="34015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9632" y="1371600"/>
            <a:ext cx="5440680" cy="3401568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3"/>
          <p:cNvSpPr txBox="1"/>
          <p:nvPr/>
        </p:nvSpPr>
        <p:spPr>
          <a:xfrm>
            <a:off x="548640" y="486460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page: replay, forecast fan, alert, explanation, personalization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199632" y="486460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page: two scenarios against a baseline, with provenance badges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pages: Patients, Twin, What-if, Summary, Evidence. The demo uses 3 synthetic demo patients and 4 synthetic personas.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Evidence pages</a:t>
            </a:r>
            <a:endParaRPr lang="en-US" sz="2800" dirty="0"/>
          </a:p>
        </p:txBody>
      </p:sp>
      <p:pic>
        <p:nvPicPr>
          <p:cNvPr id="3" name="Image 0" descr="crops/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855464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4855464" cy="3200400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1" descr="crops/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71600"/>
            <a:ext cx="5376672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23560" y="1371600"/>
            <a:ext cx="5376672" cy="3200400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3"/>
          <p:cNvSpPr txBox="1"/>
          <p:nvPr/>
        </p:nvSpPr>
        <p:spPr>
          <a:xfrm>
            <a:off x="548640" y="4663440"/>
            <a:ext cx="4855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page: time in range, GMI and CV. The AGP appears when at least 24 h of data exist.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623560" y="4663440"/>
            <a:ext cx="5376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page: every number is read from the saved reports.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page lets a reviewer check the claims in this deck against the saved reports.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reproducibility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74136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3557016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57016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 txBox="1"/>
          <p:nvPr/>
        </p:nvSpPr>
        <p:spPr>
          <a:xfrm>
            <a:off x="6382512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4.6 ms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inference latency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25128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 txBox="1"/>
          <p:nvPr/>
        </p:nvSpPr>
        <p:spPr>
          <a:xfrm>
            <a:off x="9208008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34 to 44 ms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208008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end-to-end stream latency, demo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3063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WebSocket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74136" y="2926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30632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014216" y="3063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557016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of the wearable stream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99632" y="2926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06324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839712" y="3063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382512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TimescaleDB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025128" y="2926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30632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665208" y="3063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208008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42976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43484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188720" y="4434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3152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3374136" y="42976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7016" y="443484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014216" y="4434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3557016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starts everything; backend image 2.37 GB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199632" y="42976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434840"/>
            <a:ext cx="320040" cy="3200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839712" y="4434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42" name="Text 33"/>
          <p:cNvSpPr txBox="1"/>
          <p:nvPr/>
        </p:nvSpPr>
        <p:spPr>
          <a:xfrm>
            <a:off x="6382512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jobs: lint and types, backend tests, frontend build, Docker build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9025128" y="42976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8008" y="4434840"/>
            <a:ext cx="320040" cy="32004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665208" y="4434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1400" dirty="0"/>
          </a:p>
        </p:txBody>
      </p:sp>
      <p:sp>
        <p:nvSpPr>
          <p:cNvPr id="46" name="Text 36"/>
          <p:cNvSpPr txBox="1"/>
          <p:nvPr/>
        </p:nvSpPr>
        <p:spPr>
          <a:xfrm>
            <a:off x="9208008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MIT; models and reports CC BY-NC-SA 4.0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data is included. Built with AI-assisted coding (Google Antigravity); the team specified, reviewed and tested everything.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safety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 type 2 diabetes participants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Record-to-wearable link is synthetic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 prediction is unreliable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rises underestimated by about half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nutrient values are estimates; glycemic index values unverified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effect is an assumption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prospective or clinical study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371600"/>
            <a:ext cx="5056632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68122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design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92024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a medical device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validation, diagnosis or regulatory status is claimed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five events can raise an alert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Low-glucose checks are labeled rule-based, not predicted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shows a provenance badge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4805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023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view for the doctor between visits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warnings for five event types instead of noticing spikes afterwards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meals for what-if questions, as estimates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57800" y="1371600"/>
            <a:ext cx="6382512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 txBox="1"/>
          <p:nvPr/>
        </p:nvSpPr>
        <p:spPr>
          <a:xfrm>
            <a:off x="548640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92024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larger Indian cohorts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and FHIR integration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feedback and usability testing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hypoglycemia detection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prospective pilot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Guideline-grounded explanations with citations (future work, not built)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meal logging (future work)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ZIZ, Chandigarh University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Digital Twin Challenge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Likhith Sai </a:t>
            </a:r>
            <a:r>
              <a:rPr lang="en-US" sz="1200" b="1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Seemakurthi</a:t>
            </a:r>
            <a:b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Pritesh Kumar Pandey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560527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 txBox="1"/>
          <p:nvPr/>
        </p:nvSpPr>
        <p:spPr>
          <a:xfrm>
            <a:off x="63093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 txBox="1"/>
          <p:nvPr/>
        </p:nvSpPr>
        <p:spPr>
          <a:xfrm>
            <a:off x="6309360" y="2148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D" sz="1200" dirty="0" err="1">
                <a:hlinkClick r:id="rId3"/>
              </a:rPr>
              <a:t>priteshkumarpandey</a:t>
            </a:r>
            <a:r>
              <a:rPr lang="en-ID" sz="1200" dirty="0">
                <a:hlinkClick r:id="rId3"/>
              </a:rPr>
              <a:t>/ZIZ_CHANDIGARH-UNIVERSITY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379476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 txBox="1"/>
          <p:nvPr/>
        </p:nvSpPr>
        <p:spPr>
          <a:xfrm>
            <a:off x="630936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[VIDEO LINK] placeholder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Full RMSE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RMSE in mg/dL, mean ± SD across 5 folds. Lowest in each column in blue.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0175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20.06 ± 0.89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29.64 ± 1.86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40.14 ± 3.15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17.62 ± 0.89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26.86 ± 2.77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35.20 ± 5.30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18.17 ± 0.96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27.62 ± 2.78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36.20 ± 5.16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(served primary)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18.86 ± 1.01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26.43 ± 1.94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32.86 ± 2.63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 (experiment)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22.52 ± 1.87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28.32 ± 2.17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34.64 ± 3.07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 error grid zones A+B at +30 min: LightGBM 99.39 ± 0.32 percent, GRU 99.34 ± 0.25 percent.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Alert operating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recall at least 40%, precision at least 30%, reliable (at least 10 events per fold), at most 1.0 false alerts per patient-day.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0233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Hyperglycemia +30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65 ± 10%, precision 61 ± 4%, 0.8 ± 0.2 false alerts per patient-day, median lead time 18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hyperglycemia +30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Evidence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hyperglycemia +60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Evidence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 +30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Evidence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 +60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Evidence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estimate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shown as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hypoglycemia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pass (too few events)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checks on observed reading: below 70, below 54, rapid fall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Data and license table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or artifact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 redistributed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CGMacros (PhysioNet)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and evaluation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BY-NC-SA 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HUPA-UCM (Mendeley Data)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pretraining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AI-READI (ADVANCE Center)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patient table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not published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meal 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meals (team estimates, IFCT 2017 based)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Team-made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GlucoTwin software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model files and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Served models and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BY-NC-SA 4.0 (non-commercial, attribution, share-alike)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raw data included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Why not an LLM or RAG?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868680" y="137160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build one. The task is numeric forecasting of a glucose time series with uncertainty, and our models can be tested on held-out patients. Our explanations come from permutation importance and SHAP, which point to model inputs. Guideline-grounded explanations with citations are future work and are not built.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Why a GRU and not a transformer?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868680" y="137160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a Temporal Fusion Transformer as an experiment. At +30 and +60 min it had the highest RMSE of the learned models (22.52 and 28.32 mg/dL), and at +120 min the GRU was lower (32.86 against 34.64). The GRU is lowest at +60 and +120 min and fuses the static embedding with the CGM sequence. LightGBM is lowest at +30 min, within one standard deviation, so it is the fallback.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How do you know it generalizes?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868680" y="137160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know it partly. Evaluation uses 5-fold leave-patients-out cross-validation, stratified by diabetes status, with scalers fit on training patients only, and paired comparisons with bootstrap intervals over 45 patients. But there are only 45 participants, 14 with type 2 diabetes, the record-to-wearable link is synthetic, and there is no prospective or clinical study.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 Is hypoglycemia handled?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868680" y="137160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prediction. Predicted hypoglycemia did not pass the alert gate because there were too few events, so it is shown only as a risk estimate. Low glucose is covered by rule-based checks on the observed reading (below 70, below 54, rapid fall), labeled rule-based, not predicted. Better hypoglycemia detection is on the roadmap.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 What are the main limits?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 txBox="1"/>
          <p:nvPr/>
        </p:nvSpPr>
        <p:spPr>
          <a:xfrm>
            <a:off x="868680" y="137160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 type 2 diabetes participants; a synthetic link between record and wearable; unreliable hypoglycemia prediction; meal rises underestimated by about half; estimated meal nutrient values and unverified glycemic index values; an activity effect that is an assumption; and no prospective or clinical study.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2307</Words>
  <Application>Microsoft Office PowerPoint</Application>
  <PresentationFormat>Widescreen</PresentationFormat>
  <Paragraphs>429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by ZIZ</dc:title>
  <dc:subject>PptxGenJS Presentation</dc:subject>
  <dc:creator>Team ZIZ</dc:creator>
  <cp:lastModifiedBy>PRITESH KUMAR PANDEY</cp:lastModifiedBy>
  <cp:revision>2</cp:revision>
  <dcterms:created xsi:type="dcterms:W3CDTF">2026-10-19T19:12:54Z</dcterms:created>
  <dcterms:modified xsi:type="dcterms:W3CDTF">2026-10-20T03:31:24Z</dcterms:modified>
</cp:coreProperties>
</file>