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9FF378-4AF2-4FB3-8980-3A6B1A1F018F}" v="8" dt="2026-10-20T11:23:31.9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TESH KUMAR PANDEY" userId="7fedfae80e020e4e" providerId="LiveId" clId="{BEDC8CA6-A8E5-4EE9-837A-6B8E57EB2F9B}"/>
    <pc:docChg chg="undo custSel modSld">
      <pc:chgData name="PRITESH KUMAR PANDEY" userId="7fedfae80e020e4e" providerId="LiveId" clId="{BEDC8CA6-A8E5-4EE9-837A-6B8E57EB2F9B}" dt="2026-10-20T11:17:06.956" v="60"/>
      <pc:docMkLst>
        <pc:docMk/>
      </pc:docMkLst>
      <pc:sldChg chg="modSp mod">
        <pc:chgData name="PRITESH KUMAR PANDEY" userId="7fedfae80e020e4e" providerId="LiveId" clId="{BEDC8CA6-A8E5-4EE9-837A-6B8E57EB2F9B}" dt="2026-10-20T11:17:06.956" v="60"/>
        <pc:sldMkLst>
          <pc:docMk/>
          <pc:sldMk cId="0" sldId="274"/>
        </pc:sldMkLst>
        <pc:spChg chg="mod">
          <ac:chgData name="PRITESH KUMAR PANDEY" userId="7fedfae80e020e4e" providerId="LiveId" clId="{BEDC8CA6-A8E5-4EE9-837A-6B8E57EB2F9B}" dt="2026-10-20T11:17:06.956" v="60"/>
          <ac:spMkLst>
            <pc:docMk/>
            <pc:sldMk cId="0" sldId="274"/>
            <ac:spMk id="1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Calibri"/>
              </a:defRPr>
            </a:pPr>
            <a:r>
              <a:rPr lang="en-US" sz="1400" b="0" i="0" u="none" strike="noStrike">
                <a:solidFill>
                  <a:srgbClr val="0F172A"/>
                </a:solidFill>
                <a:latin typeface="Calibri"/>
              </a:rPr>
              <a:t>Forecast RMSE, mean across 5 folds (lower is better)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+30 min</c:v>
                </c:pt>
                <c:pt idx="1">
                  <c:v>+60 min</c:v>
                </c:pt>
                <c:pt idx="2">
                  <c:v>+120 min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20.059999999999999</c:v>
                </c:pt>
                <c:pt idx="1">
                  <c:v>29.64</c:v>
                </c:pt>
                <c:pt idx="2">
                  <c:v>40.14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9C-40BA-A31C-C037C76702B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+30 min</c:v>
                </c:pt>
                <c:pt idx="1">
                  <c:v>+60 min</c:v>
                </c:pt>
                <c:pt idx="2">
                  <c:v>+120 min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17.62</c:v>
                </c:pt>
                <c:pt idx="1">
                  <c:v>26.86</c:v>
                </c:pt>
                <c:pt idx="2">
                  <c:v>35.200000000000003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9C-40BA-A31C-C037C76702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XGBoost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+30 min</c:v>
                </c:pt>
                <c:pt idx="1">
                  <c:v>+60 min</c:v>
                </c:pt>
                <c:pt idx="2">
                  <c:v>+120 min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18.170000000000002</c:v>
                </c:pt>
                <c:pt idx="1">
                  <c:v>27.62</c:v>
                </c:pt>
                <c:pt idx="2">
                  <c:v>36.200000000000003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9C-40BA-A31C-C037C76702B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GRU</c:v>
                </c:pt>
              </c:strCache>
            </c:strRef>
          </c:tx>
          <c:spPr>
            <a:solidFill>
              <a:srgbClr val="0369A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+30 min</c:v>
                </c:pt>
                <c:pt idx="1">
                  <c:v>+60 min</c:v>
                </c:pt>
                <c:pt idx="2">
                  <c:v>+120 min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18.86</c:v>
                </c:pt>
                <c:pt idx="1">
                  <c:v>26.43</c:v>
                </c:pt>
                <c:pt idx="2">
                  <c:v>32.86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9C-40BA-A31C-C037C76702B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TFT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+30 min</c:v>
                </c:pt>
                <c:pt idx="1">
                  <c:v>+60 min</c:v>
                </c:pt>
                <c:pt idx="2">
                  <c:v>+120 min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22.52</c:v>
                </c:pt>
                <c:pt idx="1">
                  <c:v>28.32</c:v>
                </c:pt>
                <c:pt idx="2">
                  <c:v>34.64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69C-40BA-A31C-C037C76702B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ID" sz="1200" b="0" i="0" u="none" strike="noStrike">
                    <a:solidFill>
                      <a:srgbClr val="000000"/>
                    </a:solidFill>
                    <a:latin typeface="Calibri"/>
                  </a:rPr>
                  <a:t>Forecast horizon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ID" sz="1200" b="0" i="0" u="none" strike="noStrike">
                    <a:solidFill>
                      <a:srgbClr val="000000"/>
                    </a:solidFill>
                    <a:latin typeface="Calibri"/>
                  </a:rPr>
                  <a:t>RMSE (mg/dL)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Calibri"/>
              </a:defRPr>
            </a:pPr>
            <a:r>
              <a:rPr lang="en-ID" sz="1400" b="0" i="0" u="none" strike="noStrike">
                <a:solidFill>
                  <a:srgbClr val="0F172A"/>
                </a:solidFill>
                <a:latin typeface="Calibri"/>
              </a:rPr>
              <a:t>RMSE reduction at +60 min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reduction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Per-patient bias correction</c:v>
                </c:pt>
                <c:pt idx="1">
                  <c:v>LoRA-style adapters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</c:v>
                </c:pt>
                <c:pt idx="1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6C-41BD-A628-426D7CDA659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ID" sz="1200" b="0" i="0" u="none" strike="noStrike">
                    <a:solidFill>
                      <a:srgbClr val="000000"/>
                    </a:solidFill>
                    <a:latin typeface="Calibri"/>
                  </a:rPr>
                  <a:t>Method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ID" sz="1200" b="0" i="0" u="none" strike="noStrike">
                    <a:solidFill>
                      <a:srgbClr val="000000"/>
                    </a:solidFill>
                    <a:latin typeface="Calibri"/>
                  </a:rPr>
                  <a:t>RMSE reduction (mg/dL)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Calibri"/>
              </a:defRPr>
            </a:pPr>
            <a:r>
              <a:rPr lang="en-US" sz="1400" b="0" i="0" u="none" strike="noStrike">
                <a:solidFill>
                  <a:srgbClr val="0F172A"/>
                </a:solidFill>
                <a:latin typeface="Calibri"/>
              </a:rPr>
              <a:t>Rise after type 2 diabetes meals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rise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Predicted by model</c:v>
                </c:pt>
                <c:pt idx="1">
                  <c:v>Observed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32.67</c:v>
                </c:pt>
                <c:pt idx="1">
                  <c:v>66.819999999999993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A7-486A-87E3-A22EC36576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ID" sz="1200" b="0" i="0" u="none" strike="noStrike">
                    <a:solidFill>
                      <a:srgbClr val="000000"/>
                    </a:solidFill>
                    <a:latin typeface="Calibri"/>
                  </a:rPr>
                  <a:t>Source of the value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Calibri"/>
                  </a:rPr>
                  <a:t>Mean glucose rise (mg/dL)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890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by ZIZ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LT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by ZIZ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6400800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not a medical device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9.png"/><Relationship Id="rId18" Type="http://schemas.openxmlformats.org/officeDocument/2006/relationships/image" Target="../media/image24.png"/><Relationship Id="rId3" Type="http://schemas.openxmlformats.org/officeDocument/2006/relationships/image" Target="../media/image13.png"/><Relationship Id="rId21" Type="http://schemas.openxmlformats.org/officeDocument/2006/relationships/image" Target="../media/image27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3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2.png"/><Relationship Id="rId23" Type="http://schemas.openxmlformats.org/officeDocument/2006/relationships/image" Target="../media/image29.png"/><Relationship Id="rId10" Type="http://schemas.openxmlformats.org/officeDocument/2006/relationships/image" Target="../media/image19.png"/><Relationship Id="rId19" Type="http://schemas.openxmlformats.org/officeDocument/2006/relationships/image" Target="../media/image25.png"/><Relationship Id="rId4" Type="http://schemas.openxmlformats.org/officeDocument/2006/relationships/image" Target="../media/image7.png"/><Relationship Id="rId9" Type="http://schemas.openxmlformats.org/officeDocument/2006/relationships/image" Target="../media/image18.png"/><Relationship Id="rId14" Type="http://schemas.openxmlformats.org/officeDocument/2006/relationships/image" Target="../media/image11.png"/><Relationship Id="rId22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22.png"/><Relationship Id="rId10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iteshkumarpandey/ZIZ_CHANDIGARH-UNIVERSITY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DC1_NouZk5E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517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India-aware digital twin for proactive type 2 diabetes management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ZIZ, Chandigarh University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Digital Twin Challenge 2026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5120640"/>
            <a:ext cx="3566160" cy="411480"/>
          </a:xfrm>
          <a:prstGeom prst="roundRect">
            <a:avLst>
              <a:gd name="adj" fmla="val 13333"/>
            </a:avLst>
          </a:prstGeom>
          <a:solidFill>
            <a:srgbClr val="E0F2FE"/>
          </a:solidFill>
          <a:ln w="9525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731520" y="5120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open or anonymized data only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5120640"/>
            <a:ext cx="3566160" cy="411480"/>
          </a:xfrm>
          <a:prstGeom prst="roundRect">
            <a:avLst>
              <a:gd name="adj" fmla="val 13333"/>
            </a:avLst>
          </a:prstGeom>
          <a:solidFill>
            <a:srgbClr val="EEF2F7"/>
          </a:solidFill>
          <a:ln w="952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 txBox="1"/>
          <p:nvPr/>
        </p:nvSpPr>
        <p:spPr>
          <a:xfrm>
            <a:off x="4480560" y="5120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not a medical device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0" y="1737360"/>
            <a:ext cx="292608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46888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care is mostly reactive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every few months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meet the doctor only every few months.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34256" y="13716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164592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608576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noticed afterwards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608576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rise in glucose is usually seen after it happened.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19872" y="13716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4192" y="164592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94192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continuous view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8394192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visits the doctor sees nothing continuous.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48640" y="438912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E0F2FE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1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give the doctor a continuous view between visits, and warn about a likely excursion before it happens, not after.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digital twin 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copy of one patient, kept up to date with live data, that can monitor, predict and answer what-if questions.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539496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prediction model</a:t>
            </a:r>
            <a:endParaRPr lang="en-US" sz="2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8404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3840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personalized per patient</a:t>
            </a:r>
            <a:endParaRPr lang="en-US" sz="2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5371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4553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continuously updated</a:t>
            </a:r>
            <a:endParaRPr lang="en-US" sz="2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66944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266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what-if testing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6245352" y="2880360"/>
            <a:ext cx="539496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4" name="Text 9"/>
          <p:cNvSpPr txBox="1"/>
          <p:nvPr/>
        </p:nvSpPr>
        <p:spPr>
          <a:xfrm>
            <a:off x="6519672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digital twin</a:t>
            </a:r>
            <a:endParaRPr lang="en-US" sz="2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384048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159752" y="3840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per patient</a:t>
            </a:r>
            <a:endParaRPr lang="en-US" sz="2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553712"/>
            <a:ext cx="365760" cy="3657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159752" y="4553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updated</a:t>
            </a:r>
            <a:endParaRPr lang="en-US" sz="20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5266944"/>
            <a:ext cx="365760" cy="365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5266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what-if testing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replay of the CGM stream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74136" y="1371600"/>
            <a:ext cx="2606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6002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02736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602736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at +30, +60 and +120 min with a q10 to q90 band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99632" y="1371600"/>
            <a:ext cx="2606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160020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428232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428232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events that pass a safety gate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025128" y="1371600"/>
            <a:ext cx="2606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3728" y="16002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53728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9253728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behind each forecast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3657600"/>
            <a:ext cx="3538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8620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" y="452628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4937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per-patient adapters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320540" y="3657600"/>
            <a:ext cx="3538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9140" y="388620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549140" y="452628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</a:t>
            </a:r>
            <a:endParaRPr lang="en-US" sz="2000" dirty="0"/>
          </a:p>
        </p:txBody>
      </p:sp>
      <p:sp>
        <p:nvSpPr>
          <p:cNvPr id="26" name="Text 18"/>
          <p:cNvSpPr txBox="1"/>
          <p:nvPr/>
        </p:nvSpPr>
        <p:spPr>
          <a:xfrm>
            <a:off x="4549140" y="4937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meal or activity and re-run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8092440" y="3657600"/>
            <a:ext cx="3538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3886200"/>
            <a:ext cx="502920" cy="5029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8321040" y="452628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dashboard</a:t>
            </a:r>
            <a:endParaRPr lang="en-US" sz="2000" dirty="0"/>
          </a:p>
        </p:txBody>
      </p:sp>
      <p:sp>
        <p:nvSpPr>
          <p:cNvPr id="30" name="Text 21"/>
          <p:cNvSpPr txBox="1"/>
          <p:nvPr/>
        </p:nvSpPr>
        <p:spPr>
          <a:xfrm>
            <a:off x="8321040" y="4937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pages for the clinician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sources, roles and licenses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227832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and 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CGMacros (PhysioNet)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training and evaluation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participants (14 type 2 diabetes, 16 prediabetes, 15 healthy); 134,292 prediction windows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BY-NC-SA 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HUPA-UCM (Mendeley Data)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pretraining only, never used for evaluation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1, 25 patients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AI-READI (ADVANCE Center)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patient table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10,518 synthetic static records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meal library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What-if meals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dishes; team estimates from IFCT 2017 raw ingredient values plus recipe assumptions; glycemic index values unverified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Team-made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data redistributed</a:t>
            </a:r>
            <a:endParaRPr lang="en-US" sz="1200" dirty="0"/>
          </a:p>
        </p:txBody>
      </p:sp>
      <p:sp>
        <p:nvSpPr>
          <p:cNvPr id="3" name="Shape 3"/>
          <p:cNvSpPr/>
          <p:nvPr/>
        </p:nvSpPr>
        <p:spPr>
          <a:xfrm>
            <a:off x="4206240" y="5349240"/>
            <a:ext cx="402336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4"/>
          <p:cNvSpPr txBox="1"/>
          <p:nvPr/>
        </p:nvSpPr>
        <p:spPr>
          <a:xfrm>
            <a:off x="4206240" y="5349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Record-to-wearable link is synthetic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3200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955280" y="621792"/>
            <a:ext cx="457200" cy="0"/>
          </a:xfrm>
          <a:prstGeom prst="line">
            <a:avLst/>
          </a:prstGeom>
          <a:noFill/>
          <a:ln w="28575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503920" y="5029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inference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012680" y="621792"/>
            <a:ext cx="457200" cy="0"/>
          </a:xfrm>
          <a:prstGeom prst="line">
            <a:avLst/>
          </a:prstGeom>
          <a:noFill/>
          <a:ln w="28575">
            <a:solidFill>
              <a:srgbClr val="475569"/>
            </a:solidFill>
            <a:prstDash val="dash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 txBox="1"/>
          <p:nvPr/>
        </p:nvSpPr>
        <p:spPr>
          <a:xfrm>
            <a:off x="10561320" y="5029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training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1325880"/>
            <a:ext cx="1828800" cy="4069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8" name="Text 6"/>
          <p:cNvSpPr txBox="1"/>
          <p:nvPr/>
        </p:nvSpPr>
        <p:spPr>
          <a:xfrm>
            <a:off x="493776" y="14173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Sources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" y="1874520"/>
            <a:ext cx="1645920" cy="1005840"/>
          </a:xfrm>
          <a:prstGeom prst="roundRect">
            <a:avLst>
              <a:gd name="adj" fmla="val 4545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14400" y="1911096"/>
            <a:ext cx="11704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static features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" y="3081528"/>
            <a:ext cx="1645920" cy="1005840"/>
          </a:xfrm>
          <a:prstGeom prst="roundRect">
            <a:avLst>
              <a:gd name="adj" fmla="val 4545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4728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14400" y="3118104"/>
            <a:ext cx="11704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and wearable stream via Kafka replay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" y="4288536"/>
            <a:ext cx="1645920" cy="1005840"/>
          </a:xfrm>
          <a:prstGeom prst="roundRect">
            <a:avLst>
              <a:gd name="adj" fmla="val 4545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" y="4325112"/>
            <a:ext cx="11704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meal library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2487168" y="1325880"/>
            <a:ext cx="1737360" cy="4069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9" name="Text 14"/>
          <p:cNvSpPr txBox="1"/>
          <p:nvPr/>
        </p:nvSpPr>
        <p:spPr>
          <a:xfrm>
            <a:off x="2596896" y="14173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Data layer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578608" y="1874520"/>
            <a:ext cx="155448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0" y="21031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017520" y="1911096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2578608" y="2770632"/>
            <a:ext cx="155448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2999232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017520" y="280720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grid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2578608" y="3666744"/>
            <a:ext cx="155448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0" y="389534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370332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(72 steps)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2578608" y="4562856"/>
            <a:ext cx="155448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91456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3017520" y="4599432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splits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4864608" y="1325880"/>
            <a:ext cx="2560320" cy="4069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3" name="Text 24"/>
          <p:cNvSpPr txBox="1"/>
          <p:nvPr/>
        </p:nvSpPr>
        <p:spPr>
          <a:xfrm>
            <a:off x="4974336" y="14173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Twin core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4956048" y="1874520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1988820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5394960" y="1911096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fusion model with LightGBM fallback</a:t>
            </a:r>
            <a:endParaRPr lang="en-US" sz="1100" dirty="0"/>
          </a:p>
        </p:txBody>
      </p:sp>
      <p:sp>
        <p:nvSpPr>
          <p:cNvPr id="37" name="Shape 27"/>
          <p:cNvSpPr/>
          <p:nvPr/>
        </p:nvSpPr>
        <p:spPr>
          <a:xfrm>
            <a:off x="4956048" y="2459736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0" y="2574036"/>
            <a:ext cx="274320" cy="27432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394960" y="2496312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calibration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4956048" y="3044952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3159252"/>
            <a:ext cx="274320" cy="27432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5394960" y="3081528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</a:t>
            </a:r>
            <a:endParaRPr lang="en-US" sz="1100" dirty="0"/>
          </a:p>
        </p:txBody>
      </p:sp>
      <p:sp>
        <p:nvSpPr>
          <p:cNvPr id="43" name="Shape 31"/>
          <p:cNvSpPr/>
          <p:nvPr/>
        </p:nvSpPr>
        <p:spPr>
          <a:xfrm>
            <a:off x="4956048" y="3630168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29200" y="3744468"/>
            <a:ext cx="274320" cy="274320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5394960" y="3666744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</a:t>
            </a:r>
            <a:endParaRPr lang="en-US" sz="1100" dirty="0"/>
          </a:p>
        </p:txBody>
      </p:sp>
      <p:sp>
        <p:nvSpPr>
          <p:cNvPr id="46" name="Shape 33"/>
          <p:cNvSpPr/>
          <p:nvPr/>
        </p:nvSpPr>
        <p:spPr>
          <a:xfrm>
            <a:off x="4956048" y="4215384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29200" y="4329684"/>
            <a:ext cx="274320" cy="274320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5394960" y="4251960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simulator</a:t>
            </a:r>
            <a:endParaRPr lang="en-US" sz="1100" dirty="0"/>
          </a:p>
        </p:txBody>
      </p:sp>
      <p:sp>
        <p:nvSpPr>
          <p:cNvPr id="49" name="Shape 35"/>
          <p:cNvSpPr/>
          <p:nvPr/>
        </p:nvSpPr>
        <p:spPr>
          <a:xfrm>
            <a:off x="4956048" y="4800600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29200" y="4914900"/>
            <a:ext cx="274320" cy="27432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5394960" y="4837176"/>
            <a:ext cx="1901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state in TimescaleDB</a:t>
            </a:r>
            <a:endParaRPr lang="en-US" sz="1100" dirty="0"/>
          </a:p>
        </p:txBody>
      </p:sp>
      <p:sp>
        <p:nvSpPr>
          <p:cNvPr id="52" name="Shape 37"/>
          <p:cNvSpPr/>
          <p:nvPr/>
        </p:nvSpPr>
        <p:spPr>
          <a:xfrm>
            <a:off x="7699248" y="1325880"/>
            <a:ext cx="2103120" cy="40690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3" name="Text 38"/>
          <p:cNvSpPr txBox="1"/>
          <p:nvPr/>
        </p:nvSpPr>
        <p:spPr>
          <a:xfrm>
            <a:off x="7808976" y="1417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Serving</a:t>
            </a:r>
            <a:endParaRPr lang="en-US" sz="1400" dirty="0"/>
          </a:p>
        </p:txBody>
      </p:sp>
      <p:sp>
        <p:nvSpPr>
          <p:cNvPr id="54" name="Shape 39"/>
          <p:cNvSpPr/>
          <p:nvPr/>
        </p:nvSpPr>
        <p:spPr>
          <a:xfrm>
            <a:off x="7790688" y="1874520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5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63840" y="2103120"/>
            <a:ext cx="274320" cy="274320"/>
          </a:xfrm>
          <a:prstGeom prst="rect">
            <a:avLst/>
          </a:prstGeom>
        </p:spPr>
      </p:pic>
      <p:sp>
        <p:nvSpPr>
          <p:cNvPr id="56" name="Text 40"/>
          <p:cNvSpPr txBox="1"/>
          <p:nvPr/>
        </p:nvSpPr>
        <p:spPr>
          <a:xfrm>
            <a:off x="8229600" y="1911096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and WebSocket</a:t>
            </a:r>
            <a:endParaRPr lang="en-US" sz="1100" dirty="0"/>
          </a:p>
        </p:txBody>
      </p:sp>
      <p:sp>
        <p:nvSpPr>
          <p:cNvPr id="57" name="Shape 41"/>
          <p:cNvSpPr/>
          <p:nvPr/>
        </p:nvSpPr>
        <p:spPr>
          <a:xfrm>
            <a:off x="7790688" y="2770632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63840" y="2999232"/>
            <a:ext cx="274320" cy="274320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229600" y="280720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gate</a:t>
            </a:r>
            <a:endParaRPr lang="en-US" sz="1100" dirty="0"/>
          </a:p>
        </p:txBody>
      </p:sp>
      <p:sp>
        <p:nvSpPr>
          <p:cNvPr id="60" name="Shape 43"/>
          <p:cNvSpPr/>
          <p:nvPr/>
        </p:nvSpPr>
        <p:spPr>
          <a:xfrm>
            <a:off x="7790688" y="3666744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63840" y="3895344"/>
            <a:ext cx="274320" cy="274320"/>
          </a:xfrm>
          <a:prstGeom prst="rect">
            <a:avLst/>
          </a:prstGeom>
        </p:spPr>
      </p:pic>
      <p:sp>
        <p:nvSpPr>
          <p:cNvPr id="62" name="Text 44"/>
          <p:cNvSpPr txBox="1"/>
          <p:nvPr/>
        </p:nvSpPr>
        <p:spPr>
          <a:xfrm>
            <a:off x="8229600" y="3703320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low-glucose checks</a:t>
            </a:r>
            <a:endParaRPr lang="en-US" sz="1100" dirty="0"/>
          </a:p>
        </p:txBody>
      </p:sp>
      <p:sp>
        <p:nvSpPr>
          <p:cNvPr id="63" name="Shape 45"/>
          <p:cNvSpPr/>
          <p:nvPr/>
        </p:nvSpPr>
        <p:spPr>
          <a:xfrm>
            <a:off x="7790688" y="4562856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863840" y="4791456"/>
            <a:ext cx="274320" cy="274320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229600" y="459943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summary</a:t>
            </a:r>
            <a:endParaRPr lang="en-US" sz="1100" dirty="0"/>
          </a:p>
        </p:txBody>
      </p:sp>
      <p:sp>
        <p:nvSpPr>
          <p:cNvPr id="66" name="Shape 47"/>
          <p:cNvSpPr/>
          <p:nvPr/>
        </p:nvSpPr>
        <p:spPr>
          <a:xfrm>
            <a:off x="10076688" y="1325880"/>
            <a:ext cx="1737360" cy="4069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7" name="Text 48"/>
          <p:cNvSpPr txBox="1"/>
          <p:nvPr/>
        </p:nvSpPr>
        <p:spPr>
          <a:xfrm>
            <a:off x="10186416" y="14173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Doctor dashboard</a:t>
            </a:r>
            <a:endParaRPr lang="en-US" sz="1400" dirty="0"/>
          </a:p>
        </p:txBody>
      </p:sp>
      <p:sp>
        <p:nvSpPr>
          <p:cNvPr id="68" name="Shape 49"/>
          <p:cNvSpPr/>
          <p:nvPr/>
        </p:nvSpPr>
        <p:spPr>
          <a:xfrm>
            <a:off x="10168128" y="187452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6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41280" y="2011680"/>
            <a:ext cx="274320" cy="274320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10607040" y="1911096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100" dirty="0"/>
          </a:p>
        </p:txBody>
      </p:sp>
      <p:sp>
        <p:nvSpPr>
          <p:cNvPr id="71" name="Shape 51"/>
          <p:cNvSpPr/>
          <p:nvPr/>
        </p:nvSpPr>
        <p:spPr>
          <a:xfrm>
            <a:off x="10168128" y="2596896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72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734056"/>
            <a:ext cx="274320" cy="274320"/>
          </a:xfrm>
          <a:prstGeom prst="rect">
            <a:avLst/>
          </a:prstGeom>
        </p:spPr>
      </p:pic>
      <p:sp>
        <p:nvSpPr>
          <p:cNvPr id="73" name="Text 52"/>
          <p:cNvSpPr txBox="1"/>
          <p:nvPr/>
        </p:nvSpPr>
        <p:spPr>
          <a:xfrm>
            <a:off x="10607040" y="2633472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</a:t>
            </a:r>
            <a:endParaRPr lang="en-US" sz="1100" dirty="0"/>
          </a:p>
        </p:txBody>
      </p:sp>
      <p:sp>
        <p:nvSpPr>
          <p:cNvPr id="74" name="Shape 53"/>
          <p:cNvSpPr/>
          <p:nvPr/>
        </p:nvSpPr>
        <p:spPr>
          <a:xfrm>
            <a:off x="10168128" y="3319272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7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41280" y="3456432"/>
            <a:ext cx="274320" cy="274320"/>
          </a:xfrm>
          <a:prstGeom prst="rect">
            <a:avLst/>
          </a:prstGeom>
        </p:spPr>
      </p:pic>
      <p:sp>
        <p:nvSpPr>
          <p:cNvPr id="76" name="Text 54"/>
          <p:cNvSpPr txBox="1"/>
          <p:nvPr/>
        </p:nvSpPr>
        <p:spPr>
          <a:xfrm>
            <a:off x="10607040" y="335584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</a:t>
            </a:r>
            <a:endParaRPr lang="en-US" sz="1100" dirty="0"/>
          </a:p>
        </p:txBody>
      </p:sp>
      <p:sp>
        <p:nvSpPr>
          <p:cNvPr id="77" name="Shape 55"/>
          <p:cNvSpPr/>
          <p:nvPr/>
        </p:nvSpPr>
        <p:spPr>
          <a:xfrm>
            <a:off x="10168128" y="4041648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78" name="Image 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178808"/>
            <a:ext cx="274320" cy="274320"/>
          </a:xfrm>
          <a:prstGeom prst="rect">
            <a:avLst/>
          </a:prstGeom>
        </p:spPr>
      </p:pic>
      <p:sp>
        <p:nvSpPr>
          <p:cNvPr id="79" name="Text 56"/>
          <p:cNvSpPr txBox="1"/>
          <p:nvPr/>
        </p:nvSpPr>
        <p:spPr>
          <a:xfrm>
            <a:off x="10607040" y="4078224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0" name="Shape 57"/>
          <p:cNvSpPr/>
          <p:nvPr/>
        </p:nvSpPr>
        <p:spPr>
          <a:xfrm>
            <a:off x="10168128" y="4764024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81" name="Image 2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4901184"/>
            <a:ext cx="274320" cy="274320"/>
          </a:xfrm>
          <a:prstGeom prst="rect">
            <a:avLst/>
          </a:prstGeom>
        </p:spPr>
      </p:pic>
      <p:sp>
        <p:nvSpPr>
          <p:cNvPr id="82" name="Text 58"/>
          <p:cNvSpPr txBox="1"/>
          <p:nvPr/>
        </p:nvSpPr>
        <p:spPr>
          <a:xfrm>
            <a:off x="10607040" y="480060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83" name="Shape 59"/>
          <p:cNvSpPr/>
          <p:nvPr/>
        </p:nvSpPr>
        <p:spPr>
          <a:xfrm>
            <a:off x="2212848" y="2377440"/>
            <a:ext cx="27432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84" name="Shape 60"/>
          <p:cNvSpPr/>
          <p:nvPr/>
        </p:nvSpPr>
        <p:spPr>
          <a:xfrm>
            <a:off x="2212848" y="3584448"/>
            <a:ext cx="27432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85" name="Shape 61"/>
          <p:cNvSpPr/>
          <p:nvPr/>
        </p:nvSpPr>
        <p:spPr>
          <a:xfrm>
            <a:off x="2212848" y="4791456"/>
            <a:ext cx="27432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86" name="Shape 62"/>
          <p:cNvSpPr/>
          <p:nvPr/>
        </p:nvSpPr>
        <p:spPr>
          <a:xfrm>
            <a:off x="4224528" y="2084832"/>
            <a:ext cx="731520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87" name="Text 63"/>
          <p:cNvSpPr txBox="1"/>
          <p:nvPr/>
        </p:nvSpPr>
        <p:spPr>
          <a:xfrm>
            <a:off x="4297680" y="18653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000" dirty="0"/>
          </a:p>
        </p:txBody>
      </p:sp>
      <p:sp>
        <p:nvSpPr>
          <p:cNvPr id="88" name="Shape 64"/>
          <p:cNvSpPr/>
          <p:nvPr/>
        </p:nvSpPr>
        <p:spPr>
          <a:xfrm>
            <a:off x="4224528" y="2286000"/>
            <a:ext cx="731520" cy="0"/>
          </a:xfrm>
          <a:prstGeom prst="line">
            <a:avLst/>
          </a:prstGeom>
          <a:noFill/>
          <a:ln w="381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89" name="Text 65"/>
          <p:cNvSpPr txBox="1"/>
          <p:nvPr/>
        </p:nvSpPr>
        <p:spPr>
          <a:xfrm>
            <a:off x="4297680" y="23317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</a:t>
            </a:r>
            <a:endParaRPr lang="en-US" sz="1000" dirty="0"/>
          </a:p>
        </p:txBody>
      </p:sp>
      <p:sp>
        <p:nvSpPr>
          <p:cNvPr id="90" name="Shape 66"/>
          <p:cNvSpPr/>
          <p:nvPr/>
        </p:nvSpPr>
        <p:spPr>
          <a:xfrm>
            <a:off x="4224528" y="3383280"/>
            <a:ext cx="73152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dash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91" name="Text 67"/>
          <p:cNvSpPr txBox="1"/>
          <p:nvPr/>
        </p:nvSpPr>
        <p:spPr>
          <a:xfrm>
            <a:off x="4242816" y="29992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training</a:t>
            </a:r>
            <a:endParaRPr lang="en-US" sz="1000" dirty="0"/>
          </a:p>
        </p:txBody>
      </p:sp>
      <p:sp>
        <p:nvSpPr>
          <p:cNvPr id="92" name="Shape 68"/>
          <p:cNvSpPr/>
          <p:nvPr/>
        </p:nvSpPr>
        <p:spPr>
          <a:xfrm>
            <a:off x="4224528" y="4462272"/>
            <a:ext cx="73152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93" name="Text 69"/>
          <p:cNvSpPr txBox="1"/>
          <p:nvPr/>
        </p:nvSpPr>
        <p:spPr>
          <a:xfrm>
            <a:off x="4297680" y="4242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</a:t>
            </a:r>
            <a:endParaRPr lang="en-US" sz="1000" dirty="0"/>
          </a:p>
        </p:txBody>
      </p:sp>
      <p:sp>
        <p:nvSpPr>
          <p:cNvPr id="94" name="Shape 70"/>
          <p:cNvSpPr/>
          <p:nvPr/>
        </p:nvSpPr>
        <p:spPr>
          <a:xfrm>
            <a:off x="7424928" y="2194560"/>
            <a:ext cx="36576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95" name="Shape 71"/>
          <p:cNvSpPr/>
          <p:nvPr/>
        </p:nvSpPr>
        <p:spPr>
          <a:xfrm>
            <a:off x="7424928" y="4462272"/>
            <a:ext cx="36576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96" name="Shape 72"/>
          <p:cNvSpPr/>
          <p:nvPr/>
        </p:nvSpPr>
        <p:spPr>
          <a:xfrm>
            <a:off x="9802368" y="3383280"/>
            <a:ext cx="36576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97" name="Shape 73"/>
          <p:cNvSpPr/>
          <p:nvPr/>
        </p:nvSpPr>
        <p:spPr>
          <a:xfrm>
            <a:off x="384048" y="5577840"/>
            <a:ext cx="114300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8" name="Text 74"/>
          <p:cNvSpPr txBox="1"/>
          <p:nvPr/>
        </p:nvSpPr>
        <p:spPr>
          <a:xfrm>
            <a:off x="548640" y="5577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99" name="Shape 75"/>
          <p:cNvSpPr/>
          <p:nvPr/>
        </p:nvSpPr>
        <p:spPr>
          <a:xfrm>
            <a:off x="1828800" y="566928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0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20240" y="5724144"/>
            <a:ext cx="256032" cy="256032"/>
          </a:xfrm>
          <a:prstGeom prst="rect">
            <a:avLst/>
          </a:prstGeom>
        </p:spPr>
      </p:pic>
      <p:sp>
        <p:nvSpPr>
          <p:cNvPr id="101" name="Text 76"/>
          <p:cNvSpPr txBox="1"/>
          <p:nvPr/>
        </p:nvSpPr>
        <p:spPr>
          <a:xfrm>
            <a:off x="2286000" y="5669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102" name="Shape 77"/>
          <p:cNvSpPr/>
          <p:nvPr/>
        </p:nvSpPr>
        <p:spPr>
          <a:xfrm>
            <a:off x="4343400" y="566928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3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34840" y="5724144"/>
            <a:ext cx="256032" cy="256032"/>
          </a:xfrm>
          <a:prstGeom prst="rect">
            <a:avLst/>
          </a:prstGeom>
        </p:spPr>
      </p:pic>
      <p:sp>
        <p:nvSpPr>
          <p:cNvPr id="104" name="Text 78"/>
          <p:cNvSpPr txBox="1"/>
          <p:nvPr/>
        </p:nvSpPr>
        <p:spPr>
          <a:xfrm>
            <a:off x="4800600" y="5669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and Grafana</a:t>
            </a:r>
            <a:endParaRPr lang="en-US" sz="1100" dirty="0"/>
          </a:p>
        </p:txBody>
      </p:sp>
      <p:sp>
        <p:nvSpPr>
          <p:cNvPr id="105" name="Shape 79"/>
          <p:cNvSpPr/>
          <p:nvPr/>
        </p:nvSpPr>
        <p:spPr>
          <a:xfrm>
            <a:off x="6858000" y="566928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49440" y="5724144"/>
            <a:ext cx="256032" cy="256032"/>
          </a:xfrm>
          <a:prstGeom prst="rect">
            <a:avLst/>
          </a:prstGeom>
        </p:spPr>
      </p:pic>
      <p:sp>
        <p:nvSpPr>
          <p:cNvPr id="107" name="Text 80"/>
          <p:cNvSpPr txBox="1"/>
          <p:nvPr/>
        </p:nvSpPr>
        <p:spPr>
          <a:xfrm>
            <a:off x="7315200" y="5669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1100" dirty="0"/>
          </a:p>
        </p:txBody>
      </p:sp>
      <p:sp>
        <p:nvSpPr>
          <p:cNvPr id="108" name="Shape 81"/>
          <p:cNvSpPr/>
          <p:nvPr/>
        </p:nvSpPr>
        <p:spPr>
          <a:xfrm>
            <a:off x="9372600" y="566928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64040" y="5724144"/>
            <a:ext cx="256032" cy="256032"/>
          </a:xfrm>
          <a:prstGeom prst="rect">
            <a:avLst/>
          </a:prstGeom>
        </p:spPr>
      </p:pic>
      <p:sp>
        <p:nvSpPr>
          <p:cNvPr id="110" name="Text 82"/>
          <p:cNvSpPr txBox="1"/>
          <p:nvPr/>
        </p:nvSpPr>
        <p:spPr>
          <a:xfrm>
            <a:off x="9829800" y="5669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model fuses two streams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features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record data, turned into a static embedding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sequence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46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grid, 6-hour lookback (72 steps). Known-future inputs: hour of day, time since last meal, recent carbs.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1965960"/>
            <a:ext cx="822960" cy="73152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10" name="Shape 8"/>
          <p:cNvSpPr/>
          <p:nvPr/>
        </p:nvSpPr>
        <p:spPr>
          <a:xfrm flipV="1">
            <a:off x="3931920" y="2926080"/>
            <a:ext cx="822960" cy="685800"/>
          </a:xfrm>
          <a:prstGeom prst="line">
            <a:avLst/>
          </a:prstGeom>
          <a:noFill/>
          <a:ln w="38100">
            <a:solidFill>
              <a:srgbClr val="0284C7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11" name="Shape 9"/>
          <p:cNvSpPr/>
          <p:nvPr/>
        </p:nvSpPr>
        <p:spPr>
          <a:xfrm>
            <a:off x="4754880" y="219456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E0F2FE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 txBox="1"/>
          <p:nvPr/>
        </p:nvSpPr>
        <p:spPr>
          <a:xfrm>
            <a:off x="4754880" y="2194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fusion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embedding plus CGM sequence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98080" y="2816352"/>
            <a:ext cx="822960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  <a:tailEnd type="triangle"/>
          </a:ln>
        </p:spPr>
        <p:txBody>
          <a:bodyPr/>
          <a:lstStyle/>
          <a:p>
            <a:endParaRPr lang="en-ID"/>
          </a:p>
        </p:txBody>
      </p:sp>
      <p:sp>
        <p:nvSpPr>
          <p:cNvPr id="15" name="Shape 13"/>
          <p:cNvSpPr/>
          <p:nvPr/>
        </p:nvSpPr>
        <p:spPr>
          <a:xfrm>
            <a:off x="8321040" y="1371600"/>
            <a:ext cx="3319272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 txBox="1"/>
          <p:nvPr/>
        </p:nvSpPr>
        <p:spPr>
          <a:xfrm>
            <a:off x="8503920" y="1463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192024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at +30, +60 and +120 min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plus q10 to q90 band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calibration, 80% target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75488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9" name="Text 17"/>
          <p:cNvSpPr txBox="1"/>
          <p:nvPr/>
        </p:nvSpPr>
        <p:spPr>
          <a:xfrm>
            <a:off x="822960" y="4754880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80.2%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754880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observed values fell inside the GRU interval at +30 min (80% target). Static and time-varying features are kept separate.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design: no patient leaks across folds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leave-patients-out cross-validation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374136" y="137160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6002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02736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by diabetes status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199632" y="137160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16002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28232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Scalers fit on training patients only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9025128" y="137160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3728" y="160020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253728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in more than one role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611880"/>
            <a:ext cx="11091672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0"/>
          <p:cNvSpPr txBox="1"/>
          <p:nvPr/>
        </p:nvSpPr>
        <p:spPr>
          <a:xfrm>
            <a:off x="8229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we predict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822960" y="4251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2"/>
          <p:cNvSpPr txBox="1"/>
          <p:nvPr/>
        </p:nvSpPr>
        <p:spPr>
          <a:xfrm>
            <a:off x="822960" y="4251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Hyperglycemia: above 180 mg/dL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3502152" y="4251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Text 14"/>
          <p:cNvSpPr txBox="1"/>
          <p:nvPr/>
        </p:nvSpPr>
        <p:spPr>
          <a:xfrm>
            <a:off x="3502152" y="4251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Severe: above 250 mg/dL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181344" y="4251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2" name="Text 16"/>
          <p:cNvSpPr txBox="1"/>
          <p:nvPr/>
        </p:nvSpPr>
        <p:spPr>
          <a:xfrm>
            <a:off x="6181344" y="4251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Hypoglycemia: below 70 mg/dL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8860536" y="4251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9525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18"/>
          <p:cNvSpPr txBox="1"/>
          <p:nvPr/>
        </p:nvSpPr>
        <p:spPr>
          <a:xfrm>
            <a:off x="8860536" y="4251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Spike: rise of 40 mg/dL or more within 60 minutes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760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134,292 prediction windows from 45 participants were used for all training and evaluation.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error by horizon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7724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463040"/>
          <a:ext cx="758952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549640" y="1371600"/>
            <a:ext cx="3090672" cy="2148840"/>
          </a:xfrm>
          <a:prstGeom prst="roundRect">
            <a:avLst>
              <a:gd name="adj" fmla="val 2553"/>
            </a:avLst>
          </a:prstGeom>
          <a:solidFill>
            <a:srgbClr val="E0F2FE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3"/>
          <p:cNvSpPr txBox="1"/>
          <p:nvPr/>
        </p:nvSpPr>
        <p:spPr>
          <a:xfrm>
            <a:off x="873252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3317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mg/dL, GRU at +120 min, against 40.14 for persistence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49040"/>
            <a:ext cx="3090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modest improvement over persistence. At +30 and +60 min the GRU, LightGBM and XGBoost are within one standard deviation of each other.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comparison with persistence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reduction in per-patient RMSE over 45 patients, with 95% bootstrap interval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3200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reduction (mg/dL)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 improved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[1.92, 2.83]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[1.35, 2.54]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[0.83, 1.95]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[2.09, 4.26]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[1.85, 3.78]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[1.16, 3.47]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of 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intervals exclude zero, but the reductions are modest, between 1.41 and 3.21 mg/dL, and not every patient improves.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only when a safety gate is passed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gate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recall at least 40%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least 30%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Reliable: at least 10 events per fold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1.0 false alerts per patient-day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897880" y="1371600"/>
            <a:ext cx="574243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612648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Hyperglycemia at +30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965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± 10%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1965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± 4%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 ± 0.2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patient-day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min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120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7" name="Text 15"/>
          <p:cNvSpPr txBox="1"/>
          <p:nvPr/>
        </p:nvSpPr>
        <p:spPr>
          <a:xfrm>
            <a:off x="77724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events pass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00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Hyperglycemia +30 min. Severe hyperglycemia +30 and +60 min. Spike +30 and +60 min. All other events are shown only as a risk estimate, never an alert.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897880" y="4343400"/>
            <a:ext cx="574243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 txBox="1"/>
          <p:nvPr/>
        </p:nvSpPr>
        <p:spPr>
          <a:xfrm>
            <a:off x="6126480" y="4434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glucose: rule-based, not predicted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48006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hypoglycemia did not pass (too few events). Checks on the observed reading: below 70, below 54, rapid fall.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and personalization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for the GRU, SHAP for LightGBM.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51206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of 45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improved with per-patient adapters. MARD 12.82% to 11.90%. RMSE 24.14 to 23.20 mg/dL at +60 min.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97880" y="1371600"/>
            <a:ext cx="574243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graphicFrame>
        <p:nvGraphicFramePr>
          <p:cNvPr id="10" name="Chart 0"/>
          <p:cNvGraphicFramePr/>
          <p:nvPr/>
        </p:nvGraphicFramePr>
        <p:xfrm>
          <a:off x="5989320" y="1463040"/>
          <a:ext cx="55778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9"/>
          <p:cNvSpPr txBox="1"/>
          <p:nvPr/>
        </p:nvSpPr>
        <p:spPr>
          <a:xfrm>
            <a:off x="777240" y="51663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effect. A simple per-patient bias correction gives almost the same RMSE gain (0.91 vs 0.94 mg/dL). Adapters are promoted only if held-out error improves.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the model with a changed meal or activity. Default is the raw model output.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84632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508760"/>
          <a:ext cx="46634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23560" y="1417320"/>
            <a:ext cx="601675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4"/>
          <p:cNvSpPr txBox="1"/>
          <p:nvPr/>
        </p:nvSpPr>
        <p:spPr>
          <a:xfrm>
            <a:off x="5852160" y="1417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98.4%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1417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meals show a positive rise (direction is right)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23560" y="2560320"/>
            <a:ext cx="601675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7"/>
          <p:cNvSpPr txBox="1"/>
          <p:nvPr/>
        </p:nvSpPr>
        <p:spPr>
          <a:xfrm>
            <a:off x="5852160" y="2560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0.3994 ± 0.1102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2560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cross-fold Pearson 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23560" y="3703320"/>
            <a:ext cx="601675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0"/>
          <p:cNvSpPr txBox="1"/>
          <p:nvPr/>
        </p:nvSpPr>
        <p:spPr>
          <a:xfrm>
            <a:off x="5852160" y="3703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72.5% to 100%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in carbohydrate: raw model, then physiological projection (100% by construction)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3"/>
          <p:cNvSpPr txBox="1"/>
          <p:nvPr/>
        </p:nvSpPr>
        <p:spPr>
          <a:xfrm>
            <a:off x="777240" y="50292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rises are underestimated by about half. The walking effect is an assumption (0.38 mg/dL per net MET-minute, capped at 50 mg/dL), not validated.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852160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5"/>
          <p:cNvSpPr txBox="1"/>
          <p:nvPr/>
        </p:nvSpPr>
        <p:spPr>
          <a:xfrm>
            <a:off x="548640" y="5852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31720" y="5852160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Text 17"/>
          <p:cNvSpPr txBox="1"/>
          <p:nvPr/>
        </p:nvSpPr>
        <p:spPr>
          <a:xfrm>
            <a:off x="2331720" y="5852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assumption-based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80560" y="5852160"/>
            <a:ext cx="2834640" cy="3657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 w="9525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2" name="Text 19"/>
          <p:cNvSpPr txBox="1"/>
          <p:nvPr/>
        </p:nvSpPr>
        <p:spPr>
          <a:xfrm>
            <a:off x="4480560" y="5852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nutrient values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dashboard</a:t>
            </a:r>
            <a:endParaRPr lang="en-US" sz="2800" dirty="0"/>
          </a:p>
        </p:txBody>
      </p:sp>
      <p:pic>
        <p:nvPicPr>
          <p:cNvPr id="3" name="Image 0" descr="crops/tw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440680" cy="340156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71600"/>
            <a:ext cx="5440680" cy="3401568"/>
          </a:xfrm>
          <a:prstGeom prst="rect">
            <a:avLst/>
          </a:prstGeom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5" name="Image 1" descr="crops/what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371600"/>
            <a:ext cx="5440680" cy="340156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199632" y="1371600"/>
            <a:ext cx="5440680" cy="3401568"/>
          </a:xfrm>
          <a:prstGeom prst="rect">
            <a:avLst/>
          </a:prstGeom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3"/>
          <p:cNvSpPr txBox="1"/>
          <p:nvPr/>
        </p:nvSpPr>
        <p:spPr>
          <a:xfrm>
            <a:off x="548640" y="4864608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page: replay, forecast fan, alert, explanation, personalization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199632" y="4864608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page: two scenarios against a baseline, with provenance badges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532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pages: Patients, Twin, What-if, Summary, Evidence. The demo uses 3 synthetic demo patients and 4 synthetic personas.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and Evidence pages</a:t>
            </a:r>
            <a:endParaRPr lang="en-US" sz="2800" dirty="0"/>
          </a:p>
        </p:txBody>
      </p:sp>
      <p:pic>
        <p:nvPicPr>
          <p:cNvPr id="3" name="Image 0" descr="crops/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855464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71600"/>
            <a:ext cx="4855464" cy="3200400"/>
          </a:xfrm>
          <a:prstGeom prst="rect">
            <a:avLst/>
          </a:prstGeom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5" name="Image 1" descr="crops/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71600"/>
            <a:ext cx="5376672" cy="3200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623560" y="1371600"/>
            <a:ext cx="5376672" cy="3200400"/>
          </a:xfrm>
          <a:prstGeom prst="rect">
            <a:avLst/>
          </a:prstGeom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3"/>
          <p:cNvSpPr txBox="1"/>
          <p:nvPr/>
        </p:nvSpPr>
        <p:spPr>
          <a:xfrm>
            <a:off x="548640" y="4663440"/>
            <a:ext cx="4855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page: time in range, GMI and CV. The AGP appears when at least 24 h of data exist.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23560" y="4663440"/>
            <a:ext cx="5376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page: every number is read from the saved reports.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page lets a reviewer check the claims in this deck against the saved reports.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and reproducibility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74136" y="1371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3557016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57016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tests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371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 txBox="1"/>
          <p:nvPr/>
        </p:nvSpPr>
        <p:spPr>
          <a:xfrm>
            <a:off x="6382512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4.6 ms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inference latency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25128" y="1371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 txBox="1"/>
          <p:nvPr/>
        </p:nvSpPr>
        <p:spPr>
          <a:xfrm>
            <a:off x="9208008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34 to 44 ms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208008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end-to-end stream latency, demo stack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320040" cy="3200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188720" y="30632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and WebSocket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74136" y="2926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016" y="3063240"/>
            <a:ext cx="320040" cy="3200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014216" y="30632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3557016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of the wearable stream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199632" y="2926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063240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839712" y="30632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82512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TimescaleDB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025128" y="2926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8008" y="306324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665208" y="30632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and Grafana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9208008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2976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43484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188720" y="4434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1520" y="4846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3374136" y="42976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7016" y="4434840"/>
            <a:ext cx="320040" cy="32004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014216" y="4434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3557016" y="4846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starts everything; backend image 2.37 GB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6199632" y="42976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4434840"/>
            <a:ext cx="320040" cy="3200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39712" y="4434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42" name="Text 33"/>
          <p:cNvSpPr txBox="1"/>
          <p:nvPr/>
        </p:nvSpPr>
        <p:spPr>
          <a:xfrm>
            <a:off x="6382512" y="4846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jobs: lint and types, backend tests, frontend build, Docker build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9025128" y="42976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8008" y="4434840"/>
            <a:ext cx="320040" cy="320040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9665208" y="4434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Licenses</a:t>
            </a:r>
            <a:endParaRPr lang="en-US" sz="1400" dirty="0"/>
          </a:p>
        </p:txBody>
      </p:sp>
      <p:sp>
        <p:nvSpPr>
          <p:cNvPr id="46" name="Text 36"/>
          <p:cNvSpPr txBox="1"/>
          <p:nvPr/>
        </p:nvSpPr>
        <p:spPr>
          <a:xfrm>
            <a:off x="9208008" y="4846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MIT; models and reports CC BY-NC-SA 4.0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data is included. Built with AI-assisted coding (Google Antigravity); the team specified, reviewed and tested everything.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safety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85216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394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14 type 2 diabetes participants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Record-to-wearable link is synthetic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Hypoglycemia prediction is unreliable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rises underestimated by about half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nutrient values are estimates; glycemic index values unverified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effect is an assumption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prospective or clinical study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56632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681228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design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1920240"/>
            <a:ext cx="45720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not a medical device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validation, diagnosis or regulatory status is claimed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five events can raise an alert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Low-glucose checks are labeled rule-based, not predicted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shows a provenance badge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48056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offers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4023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view for the doctor between visits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warnings for five event types instead of noticing spikes afterwards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meals for what-if questions, as estimates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257800" y="1371600"/>
            <a:ext cx="6382512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 txBox="1"/>
          <p:nvPr/>
        </p:nvSpPr>
        <p:spPr>
          <a:xfrm>
            <a:off x="5486400" y="14630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192024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larger Indian cohorts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and FHIR integration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 feedback and usability testing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hypoglycemia detection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prospective pilot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Guideline-grounded explanations with citations (future work, not built)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Photo-based meal logging (future work)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ZIZ, Chandigarh University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Digital Twin Challenge 2026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56616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Leader: Likhith Sai </a:t>
            </a:r>
            <a:r>
              <a:rPr lang="en-US" sz="1200" b="1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Seemakurthi</a:t>
            </a:r>
            <a:b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Member: Pritesh Kumar Pandey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35040" y="1371600"/>
            <a:ext cx="56052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8" name="Text 6"/>
          <p:cNvSpPr txBox="1"/>
          <p:nvPr/>
        </p:nvSpPr>
        <p:spPr>
          <a:xfrm>
            <a:off x="63093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02920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 txBox="1"/>
          <p:nvPr/>
        </p:nvSpPr>
        <p:spPr>
          <a:xfrm>
            <a:off x="6309360" y="2148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ID" sz="1200" dirty="0" err="1">
                <a:hlinkClick r:id="rId3"/>
              </a:rPr>
              <a:t>priteshkumarpandey</a:t>
            </a:r>
            <a:r>
              <a:rPr lang="en-ID" sz="1200" dirty="0">
                <a:hlinkClick r:id="rId3"/>
              </a:rPr>
              <a:t>/ZIZ_CHANDIGARH-UNIVERSITY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3794760"/>
            <a:ext cx="502920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 txBox="1"/>
          <p:nvPr/>
        </p:nvSpPr>
        <p:spPr>
          <a:xfrm>
            <a:off x="6309360" y="37947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hlinkClick r:id="rId4"/>
              </a:rPr>
              <a:t>https://youtu.be/DC1_NouZk5E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 Full RMSE table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RMSE in mg/dL, mean ± SD across 5 folds. Lowest in each column in blue.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301752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20.06 ± 0.89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29.64 ± 1.86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40.14 ± 3.15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17.62 ± 0.89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26.86 ± 2.77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35.20 ± 5.30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18.17 ± 0.96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27.62 ± 2.78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36.20 ± 5.16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 (served primary)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18.86 ± 1.01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26.43 ± 1.94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32.86 ± 2.63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TFT (experiment)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22.52 ± 1.87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28.32 ± 2.17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 ± 3.07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Clarke error grid zones A+B at +30 min: LightGBM 99.39 ± 0.32 percent, GRU 99.34 ± 0.25 percent.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 Alert operating table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recall at least 40%, precision at least 30%, reliable (at least 10 events per fold), at most 1.0 false alerts per patient-day.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40233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point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Hyperglycemia +30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65 ± 10%, precision 61 ± 4%, 0.8 ± 0.2 false alerts per patient-day, median lead time 18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 hyperglycemia +30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Evidence page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 hyperglycemia +60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Evidence page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 +30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Evidence page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 +60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Evidence page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events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estimate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shown as alerts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hypoglycemia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not pass (too few events)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checks on observed reading: below 70, below 54, rapid fall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 Data and license table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or artifact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data redistributed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CGMacros (PhysioNet)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and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BY-NC-SA 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HUPA-UCM (Mendeley Data)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pretraining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AI-READI (ADVANCE Center)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patient table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not published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meal library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What-if meals (team estimates, IFCT 2017 based)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Team-made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GlucoTwin software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Trained model files and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Served models and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BY-NC-SA 4.0 (non-commercial, attribution, share-alike)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raw data included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 Why not an LLM or RAG?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68680" y="1371600"/>
            <a:ext cx="10424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build one. The task is numeric forecasting of a glucose time series with uncertainty, and our models can be tested on held-out patients. Our explanations come from permutation importance and SHAP, which point to model inputs. Guideline-grounded explanations with citations are future work and are not built.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  Why a GRU and not a transformer?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68680" y="1371600"/>
            <a:ext cx="10424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tried a Temporal Fusion Transformer as an experiment. At +30 and +60 min it had the highest RMSE of the learned models (22.52 and 28.32 mg/dL), and at +120 min the GRU was lower (32.86 against 34.64). The GRU is lowest at +60 and +120 min and fuses the static embedding with the CGM sequence. LightGBM is lowest at +30 min, within one standard deviation, so it is the fallback.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  How do you know it generalizes?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68680" y="1371600"/>
            <a:ext cx="10424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only know it partly. Evaluation uses 5-fold leave-patients-out cross-validation, stratified by diabetes status, with scalers fit on training patients only, and paired comparisons with bootstrap intervals over 45 patients. But there are only 45 participants, 14 with type 2 diabetes, the record-to-wearable link is synthetic, and there is no prospective or clinical study.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  Is hypoglycemia handled?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68680" y="1371600"/>
            <a:ext cx="10424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prediction. Predicted hypoglycemia did not pass the alert gate because there were too few events, so it is shown only as a risk estimate. Low glucose is covered by rule-based checks on the observed reading (below 70, below 54, rapid fall), labeled rule-based, not predicted. Better hypoglycemia detection is on the roadmap.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  What are the main limits?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 txBox="1"/>
          <p:nvPr/>
        </p:nvSpPr>
        <p:spPr>
          <a:xfrm>
            <a:off x="868680" y="1371600"/>
            <a:ext cx="10424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14 type 2 diabetes participants; a synthetic link between record and wearable; unreliable hypoglycemia prediction; meal rises underestimated by about half; estimated meal nutrient values and unverified glycemic index values; an activity effect that is an assumption; and no prospective or clinical study.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2311</Words>
  <Application>Microsoft Office PowerPoint</Application>
  <PresentationFormat>Widescreen</PresentationFormat>
  <Paragraphs>429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GlucoTwin by ZIZ</dc:title>
  <dc:subject>PptxGenJS Presentation</dc:subject>
  <dc:creator>Team ZIZ</dc:creator>
  <cp:lastModifiedBy>PRITESH KUMAR PANDEY</cp:lastModifiedBy>
  <cp:revision>2</cp:revision>
  <dcterms:created xsi:type="dcterms:W3CDTF">2026-10-19T19:12:54Z</dcterms:created>
  <dcterms:modified xsi:type="dcterms:W3CDTF">2026-10-20T11:23:39Z</dcterms:modified>
</cp:coreProperties>
</file>